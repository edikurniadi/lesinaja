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Selamat datang rekan-rekan calon abdi negara di kelas persiapan TIU CPNS 2027. Di pertemuan perdana ini, kita tidak hanya akan berkenalan, tetapi kita akan membongkar rahasia dapur CAT BKN: mengapa cara belajar Anda selama ini mungkin sudah usang, dan bagaimana strategi baru yang tepat untuk menembus skor TIU 130 ke 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Selama 15 pertemuan ke depan, tugas saya bukan membuat Anda menjadi seorang matematikawan, melainkan melatih Anda menjadi pemikir taktis di depan layar komputer CAT. Kita akan membongkar logika di balik setiap soal sehingga Anda bisa menyelesaikannya dengan cepat, tenang, dan akurat.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kita masuk ke teori, coba perhatikan soal di depan. Banyak peserta menganggap ini soal sepele. Tapi di layar CAT, saat waktu berdetik mundur, otak sering mengalami 'blank' antara 3/10 dan 15/2. Soal baru BKN tidak menguji angka rumit, melainkan menguji ketajaman nalar Anda dalam mengeksekusi konsep dasar di bawah tekanan waktu.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Mari kita lihat ke belakang. Sebelum tahun 2021, orang bisa lolos TIU hanya dengan menghafal kamus tebal untuk menjawab soal sinonim-antonim. Namun melalui PermenPANRB 27 Tahun 2021, pemerintah secara sadar mencabut materi tersebut. Mengapa? Karena birokrasi tidak butuh kamus berjalan; birokrasi butuh aparatur yang mampu bernalar kritis.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tahun 2024 dan 2025, standar ini ditingkatkan lagi pasca disahkannya UU ASN Nomor 20 Tahun 2023. BKN mulai memasukkan matriks 9 kotak dan aljabar terapan. Peserta yang hanya belajar dari buku-buku terbitan lama mengalami kegagalan massal karena jenis soal yang keluar di layar sama sekali berbeda dari apa yang mereka hafalkan.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Inilah potret soal yang dihadapi para peserta Kedinasan tahun 2026 kemarin. Soal-soal ini tidak bisa diselesaikan dengan 'jembatan keledai' atau rumus cepat instan. Setiap soal membutuhkan 2 sampai 3 langkah penalaran sebelum Anda sampai pada jawaban akhir.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BKN dan para profesor di Konsorsium PTN sangat menyadari adanya ribuan video trik cepat di media sosial. Oleh karena itu, secara psikometris, mereka sengaja mengubah struktur soal agar peserta yang hanya hafal trik tanpa paham konsep akan langsung terjebak pada opsi distraktor (pengecoh). Yang dicari oleh negara adalah calon pegawai yang mampu berpikir sistematis.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Apakah kita anti rumus cepat? Tidak. Rumus cepat itu seperti senjata penembak jitu. Namun, jika Anda tidak punya kompas nalar, senjata itu justru akan meleset dan menjebak Anda. Di kelas ini, kita akan membangun fondasinya dulu sampai kokoh, baru kita pasang jalan pintasnya.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Bapak/Ibu/Rekan-rekan, jangan pernah merasa materi Kedinasan ini terlalu sulit atau tidak relevan untuk CPNS. Sejarah membuktikan sejak 2018: Kedinasan adalah tempat uji coba resmi BKN. Siapa yang menguasai soal Kedinasan hari ini, dialah yang akan tertawa bahagia saat melihat layar CAT CPNS besok.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Banyak peserta pintar yang gagal bukan karena tidak bisa mengerjakan soal, tetapi karena memiliki 'ego tinggi'—mereka memaksakan menghitung satu soal sulit hingga menghabiskan 3 menit. Ingat: bobot semua soal TIU sama, yaitu 5 poin. Kecepatan memilih dan memilah adalah penentu utama kelulusan 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lima pertemuan pertama, kita akan merombak total cara Anda memandang logika dan hitungan dasar. Target kita: Anda tidak lagi ragu pada pecahan bertingkat dan silogisme kondisional.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Fase 2, kita masuk ke 'jantung' materi baru. Inilah kumpulan soal yang membuat banyak peserta lain berguguran. Kita akan membedah matriks 9 kotak dan interpretasi tabel sampai Anda terbiasa membaca polanya dalam hitungan detik.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fase terakhir, kita mengasah ketahanan fisik dan mental Anda di depan layar ujian. Kita akan lakukan simulasi riil waktu mundur 30 menit agar saat hari-H tiba, Anda sudah merasa seperti sedang latihan harian biasa.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Sebelum pertemuan kedua dimulai, tugas Anda hanya satu: ikuti diagnosis mandiri di platform Lesinaja. Nilai yang Anda peroleh bukan vonis pintar atau bodoh, melainkan kompas bagi saya untuk mengetahui di materi mana Anda paling butuh dorongan ekstra.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Sebagai penutup: jangan pernah berspekulasi apakah soalnya nanti akan mudah atau sulit. Persiapan yang paling tepat adalah siap segalanya—siap menghadapi soal klasik tanpa buang waktu, dan siap melumat soal HOTS baru tanpa rasa takut. Mari kita berjuang bersama selama 15 pertemuan ke depan demi meraih impian menjadi ASN 2027. Terima kasih, mari kita mulai perjalanan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2563EB"/>
          </a:solidFill>
          <a:ln/>
        </p:spPr>
      </p:sp>
      <p:sp>
        <p:nvSpPr>
          <p:cNvPr id="3" name="Shape 1"/>
          <p:cNvSpPr/>
          <p:nvPr/>
        </p:nvSpPr>
        <p:spPr>
          <a:xfrm>
            <a:off x="1097280" y="1097280"/>
            <a:ext cx="3200400" cy="365760"/>
          </a:xfrm>
          <a:prstGeom prst="roundRect">
            <a:avLst>
              <a:gd name="adj" fmla="val 25000"/>
            </a:avLst>
          </a:prstGeom>
          <a:solidFill>
            <a:srgbClr val="1E3A8A"/>
          </a:solidFill>
          <a:ln w="12700">
            <a:solidFill>
              <a:srgbClr val="60A5FA"/>
            </a:solidFill>
            <a:prstDash val="solid"/>
          </a:ln>
        </p:spPr>
      </p:sp>
      <p:sp>
        <p:nvSpPr>
          <p:cNvPr id="4" name="Text 2"/>
          <p:cNvSpPr/>
          <p:nvPr/>
        </p:nvSpPr>
        <p:spPr>
          <a:xfrm>
            <a:off x="1097280" y="1097280"/>
            <a:ext cx="3200400" cy="365760"/>
          </a:xfrm>
          <a:prstGeom prst="rect">
            <a:avLst/>
          </a:prstGeom>
          <a:noFill/>
          <a:ln/>
        </p:spPr>
        <p:txBody>
          <a:bodyPr wrap="square" rtlCol="0" anchor="ctr"/>
          <a:lstStyle/>
          <a:p>
            <a:pPr algn="ctr" indent="0" marL="0">
              <a:buNone/>
            </a:pPr>
            <a:r>
              <a:rPr lang="en-US" sz="1100" b="1" dirty="0">
                <a:solidFill>
                  <a:srgbClr val="93C5FD"/>
                </a:solidFill>
                <a:latin typeface="Segoe UI" pitchFamily="34" charset="0"/>
                <a:ea typeface="Segoe UI" pitchFamily="34" charset="-122"/>
                <a:cs typeface="Segoe UI" pitchFamily="34" charset="-120"/>
              </a:rPr>
              <a:t>PERTEMUAN PERDANA &amp; ORIENTASI</a:t>
            </a:r>
            <a:endParaRPr lang="en-US" sz="1100" dirty="0"/>
          </a:p>
        </p:txBody>
      </p:sp>
      <p:sp>
        <p:nvSpPr>
          <p:cNvPr id="5" name="Text 3"/>
          <p:cNvSpPr/>
          <p:nvPr/>
        </p:nvSpPr>
        <p:spPr>
          <a:xfrm>
            <a:off x="1097280" y="1645920"/>
            <a:ext cx="10058400" cy="914400"/>
          </a:xfrm>
          <a:prstGeom prst="rect">
            <a:avLst/>
          </a:prstGeom>
          <a:noFill/>
          <a:ln/>
        </p:spPr>
        <p:txBody>
          <a:bodyPr wrap="square" rtlCol="0" anchor="ctr"/>
          <a:lstStyle/>
          <a:p>
            <a:pPr indent="0" marL="0">
              <a:buNone/>
            </a:pPr>
            <a:r>
              <a:rPr lang="en-US" sz="4000" b="1" dirty="0">
                <a:solidFill>
                  <a:srgbClr val="FFFFFF"/>
                </a:solidFill>
                <a:latin typeface="Segoe UI" pitchFamily="34" charset="0"/>
                <a:ea typeface="Segoe UI" pitchFamily="34" charset="-122"/>
                <a:cs typeface="Segoe UI" pitchFamily="34" charset="-120"/>
              </a:rPr>
              <a:t>DEKODE TIU CPNS 2027</a:t>
            </a:r>
            <a:endParaRPr lang="en-US" sz="4000" dirty="0"/>
          </a:p>
        </p:txBody>
      </p:sp>
      <p:sp>
        <p:nvSpPr>
          <p:cNvPr id="6" name="Text 4"/>
          <p:cNvSpPr/>
          <p:nvPr/>
        </p:nvSpPr>
        <p:spPr>
          <a:xfrm>
            <a:off x="1097280" y="2606040"/>
            <a:ext cx="9601200" cy="640080"/>
          </a:xfrm>
          <a:prstGeom prst="rect">
            <a:avLst/>
          </a:prstGeom>
          <a:noFill/>
          <a:ln/>
        </p:spPr>
        <p:txBody>
          <a:bodyPr wrap="square" rtlCol="0" anchor="ctr"/>
          <a:lstStyle/>
          <a:p>
            <a:pPr indent="0" marL="0">
              <a:buNone/>
            </a:pPr>
            <a:r>
              <a:rPr lang="en-US" sz="2000" dirty="0">
                <a:solidFill>
                  <a:srgbClr val="94A3B8"/>
                </a:solidFill>
                <a:latin typeface="Segoe UI" pitchFamily="34" charset="0"/>
                <a:ea typeface="Segoe UI" pitchFamily="34" charset="-122"/>
                <a:cs typeface="Segoe UI" pitchFamily="34" charset="-120"/>
              </a:rPr>
              <a:t>Menembus Skor 130+ Melalui Nalar Logis Berbasis Cetak Biru Kedinasan 2026</a:t>
            </a:r>
            <a:endParaRPr lang="en-US" sz="2000" dirty="0"/>
          </a:p>
        </p:txBody>
      </p:sp>
      <p:sp>
        <p:nvSpPr>
          <p:cNvPr id="7" name="Shape 5"/>
          <p:cNvSpPr/>
          <p:nvPr/>
        </p:nvSpPr>
        <p:spPr>
          <a:xfrm>
            <a:off x="1097280" y="3429000"/>
            <a:ext cx="9601200" cy="0"/>
          </a:xfrm>
          <a:prstGeom prst="line">
            <a:avLst/>
          </a:prstGeom>
          <a:noFill/>
          <a:ln w="19050">
            <a:solidFill>
              <a:srgbClr val="334155"/>
            </a:solidFill>
            <a:prstDash val="solid"/>
          </a:ln>
        </p:spPr>
      </p:sp>
      <p:sp>
        <p:nvSpPr>
          <p:cNvPr id="8" name="Shape 6"/>
          <p:cNvSpPr/>
          <p:nvPr/>
        </p:nvSpPr>
        <p:spPr>
          <a:xfrm>
            <a:off x="1097280" y="3749040"/>
            <a:ext cx="3108960" cy="1463040"/>
          </a:xfrm>
          <a:prstGeom prst="roundRect">
            <a:avLst>
              <a:gd name="adj" fmla="val 6250"/>
            </a:avLst>
          </a:prstGeom>
          <a:solidFill>
            <a:srgbClr val="1E293B"/>
          </a:solidFill>
          <a:ln w="12700">
            <a:solidFill>
              <a:srgbClr val="334155"/>
            </a:solidFill>
            <a:prstDash val="solid"/>
          </a:ln>
        </p:spPr>
      </p:sp>
      <p:sp>
        <p:nvSpPr>
          <p:cNvPr id="9" name="Text 7"/>
          <p:cNvSpPr/>
          <p:nvPr/>
        </p:nvSpPr>
        <p:spPr>
          <a:xfrm>
            <a:off x="1325880" y="3886200"/>
            <a:ext cx="2651760" cy="320040"/>
          </a:xfrm>
          <a:prstGeom prst="rect">
            <a:avLst/>
          </a:prstGeom>
          <a:noFill/>
          <a:ln/>
        </p:spPr>
        <p:txBody>
          <a:bodyPr wrap="square" rtlCol="0" anchor="ctr"/>
          <a:lstStyle/>
          <a:p>
            <a:pPr indent="0" marL="0">
              <a:buNone/>
            </a:pPr>
            <a:r>
              <a:rPr lang="en-US" sz="1300" b="1" dirty="0">
                <a:solidFill>
                  <a:srgbClr val="60A5FA"/>
                </a:solidFill>
                <a:latin typeface="Segoe UI" pitchFamily="34" charset="0"/>
                <a:ea typeface="Segoe UI" pitchFamily="34" charset="-122"/>
                <a:cs typeface="Segoe UI" pitchFamily="34" charset="-120"/>
              </a:rPr>
              <a:t>Kematian Tes Hafalan</a:t>
            </a:r>
            <a:endParaRPr lang="en-US" sz="1300" dirty="0"/>
          </a:p>
        </p:txBody>
      </p:sp>
      <p:sp>
        <p:nvSpPr>
          <p:cNvPr id="10" name="Text 8"/>
          <p:cNvSpPr/>
          <p:nvPr/>
        </p:nvSpPr>
        <p:spPr>
          <a:xfrm>
            <a:off x="1325880" y="4251960"/>
            <a:ext cx="2651760" cy="822960"/>
          </a:xfrm>
          <a:prstGeom prst="rect">
            <a:avLst/>
          </a:prstGeom>
          <a:noFill/>
          <a:ln/>
        </p:spPr>
        <p:txBody>
          <a:bodyPr wrap="square" rtlCol="0" anchor="ctr"/>
          <a:lstStyle/>
          <a:p>
            <a:pPr indent="0" marL="0">
              <a:buNone/>
            </a:pPr>
            <a:r>
              <a:rPr lang="en-US" sz="1100" dirty="0">
                <a:solidFill>
                  <a:srgbClr val="CBD5E1"/>
                </a:solidFill>
                <a:latin typeface="Segoe UI" pitchFamily="34" charset="0"/>
                <a:ea typeface="Segoe UI" pitchFamily="34" charset="-122"/>
                <a:cs typeface="Segoe UI" pitchFamily="34" charset="-120"/>
              </a:rPr>
              <a:t>Sinonim/antonim resmi hilang, digantikan logika analogi &amp; analitis.</a:t>
            </a:r>
            <a:endParaRPr lang="en-US" sz="1100" dirty="0"/>
          </a:p>
        </p:txBody>
      </p:sp>
      <p:sp>
        <p:nvSpPr>
          <p:cNvPr id="11" name="Shape 9"/>
          <p:cNvSpPr/>
          <p:nvPr/>
        </p:nvSpPr>
        <p:spPr>
          <a:xfrm>
            <a:off x="4434840" y="3749040"/>
            <a:ext cx="3108960" cy="1463040"/>
          </a:xfrm>
          <a:prstGeom prst="roundRect">
            <a:avLst>
              <a:gd name="adj" fmla="val 6250"/>
            </a:avLst>
          </a:prstGeom>
          <a:solidFill>
            <a:srgbClr val="1E293B"/>
          </a:solidFill>
          <a:ln w="12700">
            <a:solidFill>
              <a:srgbClr val="334155"/>
            </a:solidFill>
            <a:prstDash val="solid"/>
          </a:ln>
        </p:spPr>
      </p:sp>
      <p:sp>
        <p:nvSpPr>
          <p:cNvPr id="12" name="Text 10"/>
          <p:cNvSpPr/>
          <p:nvPr/>
        </p:nvSpPr>
        <p:spPr>
          <a:xfrm>
            <a:off x="4663440" y="3886200"/>
            <a:ext cx="2651760" cy="320040"/>
          </a:xfrm>
          <a:prstGeom prst="rect">
            <a:avLst/>
          </a:prstGeom>
          <a:noFill/>
          <a:ln/>
        </p:spPr>
        <p:txBody>
          <a:bodyPr wrap="square" rtlCol="0" anchor="ctr"/>
          <a:lstStyle/>
          <a:p>
            <a:pPr indent="0" marL="0">
              <a:buNone/>
            </a:pPr>
            <a:r>
              <a:rPr lang="en-US" sz="1300" b="1" dirty="0">
                <a:solidFill>
                  <a:srgbClr val="60A5FA"/>
                </a:solidFill>
                <a:latin typeface="Segoe UI" pitchFamily="34" charset="0"/>
                <a:ea typeface="Segoe UI" pitchFamily="34" charset="-122"/>
                <a:cs typeface="Segoe UI" pitchFamily="34" charset="-120"/>
              </a:rPr>
              <a:t>Laboratorium Kedinasan</a:t>
            </a:r>
            <a:endParaRPr lang="en-US" sz="1300" dirty="0"/>
          </a:p>
        </p:txBody>
      </p:sp>
      <p:sp>
        <p:nvSpPr>
          <p:cNvPr id="13" name="Text 11"/>
          <p:cNvSpPr/>
          <p:nvPr/>
        </p:nvSpPr>
        <p:spPr>
          <a:xfrm>
            <a:off x="4663440" y="4251960"/>
            <a:ext cx="2651760" cy="822960"/>
          </a:xfrm>
          <a:prstGeom prst="rect">
            <a:avLst/>
          </a:prstGeom>
          <a:noFill/>
          <a:ln/>
        </p:spPr>
        <p:txBody>
          <a:bodyPr wrap="square" rtlCol="0" anchor="ctr"/>
          <a:lstStyle/>
          <a:p>
            <a:pPr indent="0" marL="0">
              <a:buNone/>
            </a:pPr>
            <a:r>
              <a:rPr lang="en-US" sz="1100" dirty="0">
                <a:solidFill>
                  <a:srgbClr val="CBD5E1"/>
                </a:solidFill>
                <a:latin typeface="Segoe UI" pitchFamily="34" charset="0"/>
                <a:ea typeface="Segoe UI" pitchFamily="34" charset="-122"/>
                <a:cs typeface="Segoe UI" pitchFamily="34" charset="-120"/>
              </a:rPr>
              <a:t>Apa yang keluar di Kedinasan 2026 adalah bocoran resmi CPNS 2027.</a:t>
            </a:r>
            <a:endParaRPr lang="en-US" sz="1100" dirty="0"/>
          </a:p>
        </p:txBody>
      </p:sp>
      <p:sp>
        <p:nvSpPr>
          <p:cNvPr id="14" name="Shape 12"/>
          <p:cNvSpPr/>
          <p:nvPr/>
        </p:nvSpPr>
        <p:spPr>
          <a:xfrm>
            <a:off x="7772400" y="3749040"/>
            <a:ext cx="3108960" cy="1463040"/>
          </a:xfrm>
          <a:prstGeom prst="roundRect">
            <a:avLst>
              <a:gd name="adj" fmla="val 6250"/>
            </a:avLst>
          </a:prstGeom>
          <a:solidFill>
            <a:srgbClr val="1E293B"/>
          </a:solidFill>
          <a:ln w="12700">
            <a:solidFill>
              <a:srgbClr val="334155"/>
            </a:solidFill>
            <a:prstDash val="solid"/>
          </a:ln>
        </p:spPr>
      </p:sp>
      <p:sp>
        <p:nvSpPr>
          <p:cNvPr id="15" name="Text 13"/>
          <p:cNvSpPr/>
          <p:nvPr/>
        </p:nvSpPr>
        <p:spPr>
          <a:xfrm>
            <a:off x="8001000" y="3886200"/>
            <a:ext cx="2651760" cy="320040"/>
          </a:xfrm>
          <a:prstGeom prst="rect">
            <a:avLst/>
          </a:prstGeom>
          <a:noFill/>
          <a:ln/>
        </p:spPr>
        <p:txBody>
          <a:bodyPr wrap="square" rtlCol="0" anchor="ctr"/>
          <a:lstStyle/>
          <a:p>
            <a:pPr indent="0" marL="0">
              <a:buNone/>
            </a:pPr>
            <a:r>
              <a:rPr lang="en-US" sz="1300" b="1" dirty="0">
                <a:solidFill>
                  <a:srgbClr val="60A5FA"/>
                </a:solidFill>
                <a:latin typeface="Segoe UI" pitchFamily="34" charset="0"/>
                <a:ea typeface="Segoe UI" pitchFamily="34" charset="-122"/>
                <a:cs typeface="Segoe UI" pitchFamily="34" charset="-120"/>
              </a:rPr>
              <a:t>Piramida Nalar BKN</a:t>
            </a:r>
            <a:endParaRPr lang="en-US" sz="1300" dirty="0"/>
          </a:p>
        </p:txBody>
      </p:sp>
      <p:sp>
        <p:nvSpPr>
          <p:cNvPr id="16" name="Text 14"/>
          <p:cNvSpPr/>
          <p:nvPr/>
        </p:nvSpPr>
        <p:spPr>
          <a:xfrm>
            <a:off x="8001000" y="4251960"/>
            <a:ext cx="2651760" cy="822960"/>
          </a:xfrm>
          <a:prstGeom prst="rect">
            <a:avLst/>
          </a:prstGeom>
          <a:noFill/>
          <a:ln/>
        </p:spPr>
        <p:txBody>
          <a:bodyPr wrap="square" rtlCol="0" anchor="ctr"/>
          <a:lstStyle/>
          <a:p>
            <a:pPr indent="0" marL="0">
              <a:buNone/>
            </a:pPr>
            <a:r>
              <a:rPr lang="en-US" sz="1100" dirty="0">
                <a:solidFill>
                  <a:srgbClr val="CBD5E1"/>
                </a:solidFill>
                <a:latin typeface="Segoe UI" pitchFamily="34" charset="0"/>
                <a:ea typeface="Segoe UI" pitchFamily="34" charset="-122"/>
                <a:cs typeface="Segoe UI" pitchFamily="34" charset="-120"/>
              </a:rPr>
              <a:t>Bukan sekadar rumus instan, melainkan intuisi nalar tahan jebakan.</a:t>
            </a:r>
            <a:endParaRPr lang="en-US" sz="1100" dirty="0"/>
          </a:p>
        </p:txBody>
      </p:sp>
      <p:sp>
        <p:nvSpPr>
          <p:cNvPr id="17" name="Text 15"/>
          <p:cNvSpPr/>
          <p:nvPr/>
        </p:nvSpPr>
        <p:spPr>
          <a:xfrm>
            <a:off x="1097280" y="5852160"/>
            <a:ext cx="9601200" cy="365760"/>
          </a:xfrm>
          <a:prstGeom prst="rect">
            <a:avLst/>
          </a:prstGeom>
          <a:noFill/>
          <a:ln/>
        </p:spPr>
        <p:txBody>
          <a:bodyPr wrap="square" rtlCol="0" anchor="ctr"/>
          <a:lstStyle/>
          <a:p>
            <a:pPr indent="0" marL="0">
              <a:buNone/>
            </a:pPr>
            <a:r>
              <a:rPr lang="en-US" sz="1100" dirty="0">
                <a:solidFill>
                  <a:srgbClr val="64748B"/>
                </a:solidFill>
                <a:latin typeface="Segoe UI" pitchFamily="34" charset="0"/>
                <a:ea typeface="Segoe UI" pitchFamily="34" charset="-122"/>
                <a:cs typeface="Segoe UI" pitchFamily="34" charset="-120"/>
              </a:rPr>
              <a:t>LESINAJA ACADEMY • MODUL PERSIAPAN KOMPETENSI DASAR 2026/2027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2563EB"/>
                </a:solidFill>
                <a:latin typeface="Segoe UI" pitchFamily="34" charset="0"/>
                <a:ea typeface="Segoe UI" pitchFamily="34" charset="-122"/>
                <a:cs typeface="Segoe UI" pitchFamily="34" charset="-120"/>
              </a:rPr>
              <a:t>PERKENALAN PENGAJAR</a:t>
            </a:r>
            <a:endParaRPr lang="en-US" sz="10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Mengenal Mentor &amp; Komitmen Belajar Anda</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475569"/>
                </a:solidFill>
                <a:latin typeface="Segoe UI" pitchFamily="34" charset="0"/>
                <a:ea typeface="Segoe UI" pitchFamily="34" charset="-122"/>
                <a:cs typeface="Segoe UI" pitchFamily="34" charset="-120"/>
              </a:rPr>
              <a:t>Membangun fondasi logika dan ketahanan mental di depan layar CAT BKN</a:t>
            </a:r>
            <a:endParaRPr lang="en-US" sz="1200" dirty="0"/>
          </a:p>
        </p:txBody>
      </p:sp>
      <p:sp>
        <p:nvSpPr>
          <p:cNvPr id="6" name="Shape 4"/>
          <p:cNvSpPr/>
          <p:nvPr/>
        </p:nvSpPr>
        <p:spPr>
          <a:xfrm>
            <a:off x="731520" y="1691640"/>
            <a:ext cx="4114800" cy="4389120"/>
          </a:xfrm>
          <a:prstGeom prst="roundRect">
            <a:avLst>
              <a:gd name="adj" fmla="val 2667"/>
            </a:avLst>
          </a:prstGeom>
          <a:solidFill>
            <a:srgbClr val="FFFFFF"/>
          </a:solidFill>
          <a:ln w="19050">
            <a:solidFill>
              <a:srgbClr val="E2E8F0"/>
            </a:solidFill>
            <a:prstDash val="solid"/>
          </a:ln>
        </p:spPr>
      </p:sp>
      <p:sp>
        <p:nvSpPr>
          <p:cNvPr id="7" name="Shape 5"/>
          <p:cNvSpPr/>
          <p:nvPr/>
        </p:nvSpPr>
        <p:spPr>
          <a:xfrm>
            <a:off x="2240280" y="1965960"/>
            <a:ext cx="1097280" cy="1097280"/>
          </a:xfrm>
          <a:prstGeom prst="ellipse">
            <a:avLst/>
          </a:prstGeom>
          <a:solidFill>
            <a:srgbClr val="EFF6FF"/>
          </a:solidFill>
          <a:ln w="25400">
            <a:solidFill>
              <a:srgbClr val="2563EB"/>
            </a:solidFill>
            <a:prstDash val="solid"/>
          </a:ln>
        </p:spPr>
      </p:sp>
      <p:sp>
        <p:nvSpPr>
          <p:cNvPr id="8" name="Text 6"/>
          <p:cNvSpPr/>
          <p:nvPr/>
        </p:nvSpPr>
        <p:spPr>
          <a:xfrm>
            <a:off x="2240280" y="2331720"/>
            <a:ext cx="1097280" cy="365760"/>
          </a:xfrm>
          <a:prstGeom prst="rect">
            <a:avLst/>
          </a:prstGeom>
          <a:noFill/>
          <a:ln/>
        </p:spPr>
        <p:txBody>
          <a:bodyPr wrap="square" rtlCol="0" anchor="ctr"/>
          <a:lstStyle/>
          <a:p>
            <a:pPr algn="ctr" indent="0" marL="0">
              <a:buNone/>
            </a:pPr>
            <a:r>
              <a:rPr lang="en-US" sz="1100" b="1" dirty="0">
                <a:solidFill>
                  <a:srgbClr val="2563EB"/>
                </a:solidFill>
                <a:latin typeface="Segoe UI" pitchFamily="34" charset="0"/>
                <a:ea typeface="Segoe UI" pitchFamily="34" charset="-122"/>
                <a:cs typeface="Segoe UI" pitchFamily="34" charset="-120"/>
              </a:rPr>
              <a:t>MENTOR</a:t>
            </a:r>
            <a:endParaRPr lang="en-US" sz="1100" dirty="0"/>
          </a:p>
        </p:txBody>
      </p:sp>
      <p:sp>
        <p:nvSpPr>
          <p:cNvPr id="9" name="Text 7"/>
          <p:cNvSpPr/>
          <p:nvPr/>
        </p:nvSpPr>
        <p:spPr>
          <a:xfrm>
            <a:off x="914400" y="3200400"/>
            <a:ext cx="3749040" cy="365760"/>
          </a:xfrm>
          <a:prstGeom prst="rect">
            <a:avLst/>
          </a:prstGeom>
          <a:noFill/>
          <a:ln/>
        </p:spPr>
        <p:txBody>
          <a:bodyPr wrap="square" rtlCol="0" anchor="ctr"/>
          <a:lstStyle/>
          <a:p>
            <a:pPr algn="ctr" indent="0" marL="0">
              <a:buNone/>
            </a:pPr>
            <a:r>
              <a:rPr lang="en-US" sz="1400" b="1" dirty="0">
                <a:solidFill>
                  <a:srgbClr val="0F172A"/>
                </a:solidFill>
                <a:latin typeface="Segoe UI" pitchFamily="34" charset="0"/>
                <a:ea typeface="Segoe UI" pitchFamily="34" charset="-122"/>
                <a:cs typeface="Segoe UI" pitchFamily="34" charset="-120"/>
              </a:rPr>
              <a:t>Pengajar Spesialis TIU &amp; Logika Skolastik</a:t>
            </a:r>
            <a:endParaRPr lang="en-US" sz="1400" dirty="0"/>
          </a:p>
        </p:txBody>
      </p:sp>
      <p:sp>
        <p:nvSpPr>
          <p:cNvPr id="10" name="Text 8"/>
          <p:cNvSpPr/>
          <p:nvPr/>
        </p:nvSpPr>
        <p:spPr>
          <a:xfrm>
            <a:off x="1005840" y="3657600"/>
            <a:ext cx="3566160" cy="1097280"/>
          </a:xfrm>
          <a:prstGeom prst="rect">
            <a:avLst/>
          </a:prstGeom>
          <a:noFill/>
          <a:ln/>
        </p:spPr>
        <p:txBody>
          <a:bodyPr wrap="square" rtlCol="0" anchor="ctr"/>
          <a:lstStyle/>
          <a:p>
            <a:pPr algn="ctr" indent="0" marL="0">
              <a:buNone/>
            </a:pPr>
            <a:r>
              <a:rPr lang="en-US" sz="1100" dirty="0">
                <a:solidFill>
                  <a:srgbClr val="475569"/>
                </a:solidFill>
                <a:latin typeface="Segoe UI" pitchFamily="34" charset="0"/>
                <a:ea typeface="Segoe UI" pitchFamily="34" charset="-122"/>
                <a:cs typeface="Segoe UI" pitchFamily="34" charset="-120"/>
              </a:rPr>
              <a:t>Berpengalaman mendampingi ratusan peserta seleksi Kedinasan (STAN, STIS, IPDN, STIN) dan CPNS kementerian tembus passing grade dengan skor TIU memuaskan.</a:t>
            </a:r>
            <a:endParaRPr lang="en-US" sz="1100" dirty="0"/>
          </a:p>
        </p:txBody>
      </p:sp>
      <p:sp>
        <p:nvSpPr>
          <p:cNvPr id="11" name="Shape 9"/>
          <p:cNvSpPr/>
          <p:nvPr/>
        </p:nvSpPr>
        <p:spPr>
          <a:xfrm>
            <a:off x="1005840" y="4846320"/>
            <a:ext cx="3566160" cy="1005840"/>
          </a:xfrm>
          <a:prstGeom prst="roundRect">
            <a:avLst>
              <a:gd name="adj" fmla="val 7273"/>
            </a:avLst>
          </a:prstGeom>
          <a:solidFill>
            <a:srgbClr val="EFF6FF"/>
          </a:solidFill>
          <a:ln w="12700">
            <a:solidFill>
              <a:srgbClr val="2563EB"/>
            </a:solidFill>
            <a:prstDash val="solid"/>
          </a:ln>
        </p:spPr>
      </p:sp>
      <p:sp>
        <p:nvSpPr>
          <p:cNvPr id="12" name="Text 10"/>
          <p:cNvSpPr/>
          <p:nvPr/>
        </p:nvSpPr>
        <p:spPr>
          <a:xfrm>
            <a:off x="1097280" y="4919472"/>
            <a:ext cx="3383280" cy="868680"/>
          </a:xfrm>
          <a:prstGeom prst="rect">
            <a:avLst/>
          </a:prstGeom>
          <a:noFill/>
          <a:ln/>
        </p:spPr>
        <p:txBody>
          <a:bodyPr wrap="square" rtlCol="0" anchor="ctr"/>
          <a:lstStyle/>
          <a:p>
            <a:pPr algn="ctr" indent="0" marL="0">
              <a:buNone/>
            </a:pPr>
            <a:r>
              <a:rPr lang="en-US" sz="1000" i="1" dirty="0">
                <a:solidFill>
                  <a:srgbClr val="1D4ED8"/>
                </a:solidFill>
                <a:latin typeface="Segoe UI" pitchFamily="34" charset="0"/>
                <a:ea typeface="Segoe UI" pitchFamily="34" charset="-122"/>
                <a:cs typeface="Segoe UI" pitchFamily="34" charset="-120"/>
              </a:rPr>
              <a:t>"Bukan sekadar memberi rumus instan, tetapi melatih intuisi logika agar Anda kebal terhadap jebakan variasi soal apa pun di layar CAT."</a:t>
            </a:r>
            <a:endParaRPr lang="en-US" sz="1000" dirty="0"/>
          </a:p>
        </p:txBody>
      </p:sp>
      <p:sp>
        <p:nvSpPr>
          <p:cNvPr id="13" name="Shape 11"/>
          <p:cNvSpPr/>
          <p:nvPr/>
        </p:nvSpPr>
        <p:spPr>
          <a:xfrm>
            <a:off x="5120640" y="1691640"/>
            <a:ext cx="6309360" cy="1325880"/>
          </a:xfrm>
          <a:prstGeom prst="roundRect">
            <a:avLst>
              <a:gd name="adj" fmla="val 6897"/>
            </a:avLst>
          </a:prstGeom>
          <a:solidFill>
            <a:srgbClr val="FFFFFF"/>
          </a:solidFill>
          <a:ln w="19050">
            <a:solidFill>
              <a:srgbClr val="E2E8F0"/>
            </a:solidFill>
            <a:prstDash val="solid"/>
          </a:ln>
        </p:spPr>
      </p:sp>
      <p:sp>
        <p:nvSpPr>
          <p:cNvPr id="14" name="Shape 12"/>
          <p:cNvSpPr/>
          <p:nvPr/>
        </p:nvSpPr>
        <p:spPr>
          <a:xfrm>
            <a:off x="5349240" y="1920240"/>
            <a:ext cx="640080" cy="457200"/>
          </a:xfrm>
          <a:prstGeom prst="roundRect">
            <a:avLst>
              <a:gd name="adj" fmla="val 16000"/>
            </a:avLst>
          </a:prstGeom>
          <a:solidFill>
            <a:srgbClr val="EFF6FF"/>
          </a:solidFill>
          <a:ln w="12700">
            <a:solidFill>
              <a:srgbClr val="2563EB"/>
            </a:solidFill>
            <a:prstDash val="solid"/>
          </a:ln>
        </p:spPr>
      </p:sp>
      <p:sp>
        <p:nvSpPr>
          <p:cNvPr id="15" name="Text 13"/>
          <p:cNvSpPr/>
          <p:nvPr/>
        </p:nvSpPr>
        <p:spPr>
          <a:xfrm>
            <a:off x="5349240" y="1984248"/>
            <a:ext cx="640080" cy="365760"/>
          </a:xfrm>
          <a:prstGeom prst="rect">
            <a:avLst/>
          </a:prstGeom>
          <a:noFill/>
          <a:ln/>
        </p:spPr>
        <p:txBody>
          <a:bodyPr wrap="square" rtlCol="0" anchor="ctr"/>
          <a:lstStyle/>
          <a:p>
            <a:pPr algn="ctr" indent="0" marL="0">
              <a:buNone/>
            </a:pPr>
            <a:r>
              <a:rPr lang="en-US" sz="1200" b="1" dirty="0">
                <a:solidFill>
                  <a:srgbClr val="2563EB"/>
                </a:solidFill>
                <a:latin typeface="Segoe UI" pitchFamily="34" charset="0"/>
                <a:ea typeface="Segoe UI" pitchFamily="34" charset="-122"/>
                <a:cs typeface="Segoe UI" pitchFamily="34" charset="-120"/>
              </a:rPr>
              <a:t>01</a:t>
            </a:r>
            <a:endParaRPr lang="en-US" sz="1200" dirty="0"/>
          </a:p>
        </p:txBody>
      </p:sp>
      <p:sp>
        <p:nvSpPr>
          <p:cNvPr id="16" name="Text 14"/>
          <p:cNvSpPr/>
          <p:nvPr/>
        </p:nvSpPr>
        <p:spPr>
          <a:xfrm>
            <a:off x="6172200" y="1874520"/>
            <a:ext cx="5029200" cy="32004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Kurikulum Berbasis Field Report (FR) Aktual</a:t>
            </a:r>
            <a:endParaRPr lang="en-US" sz="1300" dirty="0"/>
          </a:p>
        </p:txBody>
      </p:sp>
      <p:sp>
        <p:nvSpPr>
          <p:cNvPr id="17" name="Text 15"/>
          <p:cNvSpPr/>
          <p:nvPr/>
        </p:nvSpPr>
        <p:spPr>
          <a:xfrm>
            <a:off x="6172200" y="2194560"/>
            <a:ext cx="5029200" cy="731520"/>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Setiap materi yang dipelajari disarikan langsung dari pola soal CAT BKN Kedinasan 2024–2026 dan CPNS terbaru. Tidak ada materi usang yang membuang waktu.</a:t>
            </a:r>
            <a:endParaRPr lang="en-US" sz="1050" dirty="0"/>
          </a:p>
        </p:txBody>
      </p:sp>
      <p:sp>
        <p:nvSpPr>
          <p:cNvPr id="18" name="Shape 16"/>
          <p:cNvSpPr/>
          <p:nvPr/>
        </p:nvSpPr>
        <p:spPr>
          <a:xfrm>
            <a:off x="5120640" y="3200400"/>
            <a:ext cx="6309360" cy="1325880"/>
          </a:xfrm>
          <a:prstGeom prst="roundRect">
            <a:avLst>
              <a:gd name="adj" fmla="val 6897"/>
            </a:avLst>
          </a:prstGeom>
          <a:solidFill>
            <a:srgbClr val="FFFFFF"/>
          </a:solidFill>
          <a:ln w="19050">
            <a:solidFill>
              <a:srgbClr val="E2E8F0"/>
            </a:solidFill>
            <a:prstDash val="solid"/>
          </a:ln>
        </p:spPr>
      </p:sp>
      <p:sp>
        <p:nvSpPr>
          <p:cNvPr id="19" name="Shape 17"/>
          <p:cNvSpPr/>
          <p:nvPr/>
        </p:nvSpPr>
        <p:spPr>
          <a:xfrm>
            <a:off x="5349240" y="3429000"/>
            <a:ext cx="640080" cy="457200"/>
          </a:xfrm>
          <a:prstGeom prst="roundRect">
            <a:avLst>
              <a:gd name="adj" fmla="val 16000"/>
            </a:avLst>
          </a:prstGeom>
          <a:solidFill>
            <a:srgbClr val="D1FAE5"/>
          </a:solidFill>
          <a:ln w="12700">
            <a:solidFill>
              <a:srgbClr val="059669"/>
            </a:solidFill>
            <a:prstDash val="solid"/>
          </a:ln>
        </p:spPr>
      </p:sp>
      <p:sp>
        <p:nvSpPr>
          <p:cNvPr id="20" name="Text 18"/>
          <p:cNvSpPr/>
          <p:nvPr/>
        </p:nvSpPr>
        <p:spPr>
          <a:xfrm>
            <a:off x="5349240" y="3493008"/>
            <a:ext cx="640080" cy="365760"/>
          </a:xfrm>
          <a:prstGeom prst="rect">
            <a:avLst/>
          </a:prstGeom>
          <a:noFill/>
          <a:ln/>
        </p:spPr>
        <p:txBody>
          <a:bodyPr wrap="square" rtlCol="0" anchor="ctr"/>
          <a:lstStyle/>
          <a:p>
            <a:pPr algn="ctr" indent="0" marL="0">
              <a:buNone/>
            </a:pPr>
            <a:r>
              <a:rPr lang="en-US" sz="1200" b="1" dirty="0">
                <a:solidFill>
                  <a:srgbClr val="059669"/>
                </a:solidFill>
                <a:latin typeface="Segoe UI" pitchFamily="34" charset="0"/>
                <a:ea typeface="Segoe UI" pitchFamily="34" charset="-122"/>
                <a:cs typeface="Segoe UI" pitchFamily="34" charset="-120"/>
              </a:rPr>
              <a:t>02</a:t>
            </a:r>
            <a:endParaRPr lang="en-US" sz="1200" dirty="0"/>
          </a:p>
        </p:txBody>
      </p:sp>
      <p:sp>
        <p:nvSpPr>
          <p:cNvPr id="21" name="Text 19"/>
          <p:cNvSpPr/>
          <p:nvPr/>
        </p:nvSpPr>
        <p:spPr>
          <a:xfrm>
            <a:off x="6172200" y="3383280"/>
            <a:ext cx="5029200" cy="32004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Metode Nalar Bertingkat (Bukan Hitung Buta)</a:t>
            </a:r>
            <a:endParaRPr lang="en-US" sz="1300" dirty="0"/>
          </a:p>
        </p:txBody>
      </p:sp>
      <p:sp>
        <p:nvSpPr>
          <p:cNvPr id="22" name="Text 20"/>
          <p:cNvSpPr/>
          <p:nvPr/>
        </p:nvSpPr>
        <p:spPr>
          <a:xfrm>
            <a:off x="6172200" y="3703320"/>
            <a:ext cx="5029200" cy="731520"/>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Mengajarkan cara membaca pola, eliminasi opsi cepat, dan penggunaan identitas aljabar untuk memotong waktu hitung dari 2 menit menjadi 20 detik.</a:t>
            </a:r>
            <a:endParaRPr lang="en-US" sz="1050" dirty="0"/>
          </a:p>
        </p:txBody>
      </p:sp>
      <p:sp>
        <p:nvSpPr>
          <p:cNvPr id="23" name="Shape 21"/>
          <p:cNvSpPr/>
          <p:nvPr/>
        </p:nvSpPr>
        <p:spPr>
          <a:xfrm>
            <a:off x="5120640" y="4709160"/>
            <a:ext cx="6309360" cy="1325880"/>
          </a:xfrm>
          <a:prstGeom prst="roundRect">
            <a:avLst>
              <a:gd name="adj" fmla="val 6897"/>
            </a:avLst>
          </a:prstGeom>
          <a:solidFill>
            <a:srgbClr val="FFFFFF"/>
          </a:solidFill>
          <a:ln w="19050">
            <a:solidFill>
              <a:srgbClr val="E2E8F0"/>
            </a:solidFill>
            <a:prstDash val="solid"/>
          </a:ln>
        </p:spPr>
      </p:sp>
      <p:sp>
        <p:nvSpPr>
          <p:cNvPr id="24" name="Shape 22"/>
          <p:cNvSpPr/>
          <p:nvPr/>
        </p:nvSpPr>
        <p:spPr>
          <a:xfrm>
            <a:off x="5349240" y="4937760"/>
            <a:ext cx="640080" cy="457200"/>
          </a:xfrm>
          <a:prstGeom prst="roundRect">
            <a:avLst>
              <a:gd name="adj" fmla="val 16000"/>
            </a:avLst>
          </a:prstGeom>
          <a:solidFill>
            <a:srgbClr val="FEF3C7"/>
          </a:solidFill>
          <a:ln w="12700">
            <a:solidFill>
              <a:srgbClr val="D97706"/>
            </a:solidFill>
            <a:prstDash val="solid"/>
          </a:ln>
        </p:spPr>
      </p:sp>
      <p:sp>
        <p:nvSpPr>
          <p:cNvPr id="25" name="Text 23"/>
          <p:cNvSpPr/>
          <p:nvPr/>
        </p:nvSpPr>
        <p:spPr>
          <a:xfrm>
            <a:off x="5349240" y="5001768"/>
            <a:ext cx="640080" cy="365760"/>
          </a:xfrm>
          <a:prstGeom prst="rect">
            <a:avLst/>
          </a:prstGeom>
          <a:noFill/>
          <a:ln/>
        </p:spPr>
        <p:txBody>
          <a:bodyPr wrap="square" rtlCol="0" anchor="ctr"/>
          <a:lstStyle/>
          <a:p>
            <a:pPr algn="ctr" indent="0" marL="0">
              <a:buNone/>
            </a:pPr>
            <a:r>
              <a:rPr lang="en-US" sz="1200" b="1" dirty="0">
                <a:solidFill>
                  <a:srgbClr val="D97706"/>
                </a:solidFill>
                <a:latin typeface="Segoe UI" pitchFamily="34" charset="0"/>
                <a:ea typeface="Segoe UI" pitchFamily="34" charset="-122"/>
                <a:cs typeface="Segoe UI" pitchFamily="34" charset="-120"/>
              </a:rPr>
              <a:t>03</a:t>
            </a:r>
            <a:endParaRPr lang="en-US" sz="1200" dirty="0"/>
          </a:p>
        </p:txBody>
      </p:sp>
      <p:sp>
        <p:nvSpPr>
          <p:cNvPr id="26" name="Text 24"/>
          <p:cNvSpPr/>
          <p:nvPr/>
        </p:nvSpPr>
        <p:spPr>
          <a:xfrm>
            <a:off x="6172200" y="4892040"/>
            <a:ext cx="5029200" cy="32004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Diagnosis Berkala &amp; Pendampingan Tuntas</a:t>
            </a:r>
            <a:endParaRPr lang="en-US" sz="1300" dirty="0"/>
          </a:p>
        </p:txBody>
      </p:sp>
      <p:sp>
        <p:nvSpPr>
          <p:cNvPr id="27" name="Text 25"/>
          <p:cNvSpPr/>
          <p:nvPr/>
        </p:nvSpPr>
        <p:spPr>
          <a:xfrm>
            <a:off x="6172200" y="5212080"/>
            <a:ext cx="5029200" cy="731520"/>
          </a:xfrm>
          <a:prstGeom prst="rect">
            <a:avLst/>
          </a:prstGeom>
          <a:noFill/>
          <a:ln/>
        </p:spPr>
        <p:txBody>
          <a:bodyPr wrap="square" rtlCol="0" anchor="ctr"/>
          <a:lstStyle/>
          <a:p>
            <a:pPr indent="0" marL="0">
              <a:buNone/>
            </a:pPr>
            <a:r>
              <a:rPr lang="en-US" sz="1050" dirty="0">
                <a:solidFill>
                  <a:srgbClr val="475569"/>
                </a:solidFill>
                <a:latin typeface="Segoe UI" pitchFamily="34" charset="0"/>
                <a:ea typeface="Segoe UI" pitchFamily="34" charset="-122"/>
                <a:cs typeface="Segoe UI" pitchFamily="34" charset="-120"/>
              </a:rPr>
              <a:t>Evaluasi individual berbasis aplikasi Lesinaja untuk mendeteksi titik lemah kognitif (Verbal, Numerik, atau Figural) sebelum ujian sesungguhnya.</a:t>
            </a:r>
            <a:endParaRPr lang="en-US" sz="1050" dirty="0"/>
          </a:p>
        </p:txBody>
      </p:sp>
      <p:sp>
        <p:nvSpPr>
          <p:cNvPr id="28" name="Shape 26"/>
          <p:cNvSpPr/>
          <p:nvPr/>
        </p:nvSpPr>
        <p:spPr>
          <a:xfrm>
            <a:off x="731520" y="6309360"/>
            <a:ext cx="10725912" cy="0"/>
          </a:xfrm>
          <a:prstGeom prst="line">
            <a:avLst/>
          </a:prstGeom>
          <a:noFill/>
          <a:ln w="12700">
            <a:solidFill>
              <a:srgbClr val="E2E8F0"/>
            </a:solidFill>
            <a:prstDash val="solid"/>
          </a:ln>
        </p:spPr>
      </p:sp>
      <p:sp>
        <p:nvSpPr>
          <p:cNvPr id="29" name="Text 27"/>
          <p:cNvSpPr/>
          <p:nvPr/>
        </p:nvSpPr>
        <p:spPr>
          <a:xfrm>
            <a:off x="731520" y="6355080"/>
            <a:ext cx="7315200" cy="27432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LESINAJA • Program Persiapan Intensif TIU CPNS 2027</a:t>
            </a:r>
            <a:endParaRPr lang="en-US" sz="900" dirty="0"/>
          </a:p>
        </p:txBody>
      </p:sp>
      <p:sp>
        <p:nvSpPr>
          <p:cNvPr id="30" name="Text 28"/>
          <p:cNvSpPr/>
          <p:nvPr/>
        </p:nvSpPr>
        <p:spPr>
          <a:xfrm>
            <a:off x="9601200" y="6355080"/>
            <a:ext cx="1828800" cy="274320"/>
          </a:xfrm>
          <a:prstGeom prst="rect">
            <a:avLst/>
          </a:prstGeom>
          <a:noFill/>
          <a:ln/>
        </p:spPr>
        <p:txBody>
          <a:bodyPr wrap="square" rtlCol="0" anchor="ctr"/>
          <a:lstStyle/>
          <a:p>
            <a:pPr algn="r" indent="0" marL="0">
              <a:buNone/>
            </a:pPr>
            <a:r>
              <a:rPr lang="en-US" sz="900" dirty="0">
                <a:solidFill>
                  <a:srgbClr val="475569"/>
                </a:solidFill>
                <a:latin typeface="Segoe UI" pitchFamily="34" charset="0"/>
                <a:ea typeface="Segoe UI" pitchFamily="34" charset="-122"/>
                <a:cs typeface="Segoe UI" pitchFamily="34" charset="-120"/>
              </a:rPr>
              <a:t>Slide 2 dari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2563EB"/>
                </a:solidFill>
                <a:latin typeface="Segoe UI" pitchFamily="34" charset="0"/>
                <a:ea typeface="Segoe UI" pitchFamily="34" charset="-122"/>
                <a:cs typeface="Segoe UI" pitchFamily="34" charset="-120"/>
              </a:rPr>
              <a:t>REALITY CHECK</a:t>
            </a:r>
            <a:endParaRPr lang="en-US" sz="10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Uji Nalar Cepat 30 Detik: Seberapa Kuat Pemahaman Dasar Anda?</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475569"/>
                </a:solidFill>
                <a:latin typeface="Segoe UI" pitchFamily="34" charset="0"/>
                <a:ea typeface="Segoe UI" pitchFamily="34" charset="-122"/>
                <a:cs typeface="Segoe UI" pitchFamily="34" charset="-120"/>
              </a:rPr>
              <a:t>Soal baru BKN tidak menguji angka rumit, melainkan ketajaman konsep dasar di bawah tekanan waktu</a:t>
            </a:r>
            <a:endParaRPr lang="en-US" sz="1200" dirty="0"/>
          </a:p>
        </p:txBody>
      </p:sp>
      <p:sp>
        <p:nvSpPr>
          <p:cNvPr id="6" name="Shape 4"/>
          <p:cNvSpPr/>
          <p:nvPr/>
        </p:nvSpPr>
        <p:spPr>
          <a:xfrm>
            <a:off x="914400" y="1737360"/>
            <a:ext cx="4937760" cy="2560320"/>
          </a:xfrm>
          <a:prstGeom prst="roundRect">
            <a:avLst>
              <a:gd name="adj" fmla="val 4286"/>
            </a:avLst>
          </a:prstGeom>
          <a:solidFill>
            <a:srgbClr val="FFFFFF"/>
          </a:solidFill>
          <a:ln w="25400">
            <a:solidFill>
              <a:srgbClr val="2563EB"/>
            </a:solidFill>
            <a:prstDash val="solid"/>
          </a:ln>
        </p:spPr>
      </p:sp>
      <p:sp>
        <p:nvSpPr>
          <p:cNvPr id="7" name="Text 5"/>
          <p:cNvSpPr/>
          <p:nvPr/>
        </p:nvSpPr>
        <p:spPr>
          <a:xfrm>
            <a:off x="1188720" y="1920240"/>
            <a:ext cx="1828800" cy="320040"/>
          </a:xfrm>
          <a:prstGeom prst="rect">
            <a:avLst/>
          </a:prstGeom>
          <a:noFill/>
          <a:ln/>
        </p:spPr>
        <p:txBody>
          <a:bodyPr wrap="square" rtlCol="0" anchor="ctr"/>
          <a:lstStyle/>
          <a:p>
            <a:pPr indent="0" marL="0">
              <a:buNone/>
            </a:pPr>
            <a:r>
              <a:rPr lang="en-US" sz="1200" b="1" dirty="0">
                <a:solidFill>
                  <a:srgbClr val="2563EB"/>
                </a:solidFill>
                <a:latin typeface="Segoe UI" pitchFamily="34" charset="0"/>
                <a:ea typeface="Segoe UI" pitchFamily="34" charset="-122"/>
                <a:cs typeface="Segoe UI" pitchFamily="34" charset="-120"/>
              </a:rPr>
              <a:t>KASUS A</a:t>
            </a:r>
            <a:endParaRPr lang="en-US" sz="1200" dirty="0"/>
          </a:p>
        </p:txBody>
      </p:sp>
      <p:sp>
        <p:nvSpPr>
          <p:cNvPr id="8" name="Text 6"/>
          <p:cNvSpPr/>
          <p:nvPr/>
        </p:nvSpPr>
        <p:spPr>
          <a:xfrm>
            <a:off x="1188720" y="2286000"/>
            <a:ext cx="4389120" cy="731520"/>
          </a:xfrm>
          <a:prstGeom prst="rect">
            <a:avLst/>
          </a:prstGeom>
          <a:noFill/>
          <a:ln/>
        </p:spPr>
        <p:txBody>
          <a:bodyPr wrap="square" rtlCol="0" anchor="ctr"/>
          <a:lstStyle/>
          <a:p>
            <a:pPr algn="ctr" indent="0" marL="0">
              <a:buNone/>
            </a:pPr>
            <a:r>
              <a:rPr lang="en-US" sz="3200" b="1" dirty="0">
                <a:solidFill>
                  <a:srgbClr val="0F172A"/>
                </a:solidFill>
                <a:latin typeface="Segoe UI" pitchFamily="34" charset="0"/>
                <a:ea typeface="Segoe UI" pitchFamily="34" charset="-122"/>
                <a:cs typeface="Segoe UI" pitchFamily="34" charset="-120"/>
              </a:rPr>
              <a:t>(3 / 2) / 5</a:t>
            </a:r>
            <a:endParaRPr lang="en-US" sz="3200" dirty="0"/>
          </a:p>
        </p:txBody>
      </p:sp>
      <p:sp>
        <p:nvSpPr>
          <p:cNvPr id="9" name="Text 7"/>
          <p:cNvSpPr/>
          <p:nvPr/>
        </p:nvSpPr>
        <p:spPr>
          <a:xfrm>
            <a:off x="1188720" y="3108960"/>
            <a:ext cx="4389120" cy="822960"/>
          </a:xfrm>
          <a:prstGeom prst="rect">
            <a:avLst/>
          </a:prstGeom>
          <a:noFill/>
          <a:ln/>
        </p:spPr>
        <p:txBody>
          <a:bodyPr wrap="square" rtlCol="0" anchor="ctr"/>
          <a:lstStyle/>
          <a:p>
            <a:pPr algn="ctr" indent="0" marL="0">
              <a:buNone/>
            </a:pPr>
            <a:r>
              <a:rPr lang="en-US" sz="1200" dirty="0">
                <a:solidFill>
                  <a:srgbClr val="475569"/>
                </a:solidFill>
                <a:latin typeface="Segoe UI" pitchFamily="34" charset="0"/>
                <a:ea typeface="Segoe UI" pitchFamily="34" charset="-122"/>
                <a:cs typeface="Segoe UI" pitchFamily="34" charset="-120"/>
              </a:rPr>
              <a:t>Tiga per dua, lalu dibagi lima</a:t>
            </a:r>
            <a:endParaRPr lang="en-US" sz="1200" dirty="0"/>
          </a:p>
          <a:p>
            <a:pPr algn="ctr" indent="0" marL="0">
              <a:buNone/>
            </a:pPr>
            <a:r>
              <a:rPr lang="en-US" sz="1200" dirty="0">
                <a:solidFill>
                  <a:srgbClr val="475569"/>
                </a:solidFill>
                <a:latin typeface="Segoe UI" pitchFamily="34" charset="0"/>
                <a:ea typeface="Segoe UI" pitchFamily="34" charset="-122"/>
                <a:cs typeface="Segoe UI" pitchFamily="34" charset="-120"/>
              </a:rPr>
              <a:t>Hasil = 3 / 10 = 0,30</a:t>
            </a:r>
            <a:endParaRPr lang="en-US" sz="1200" dirty="0"/>
          </a:p>
        </p:txBody>
      </p:sp>
      <p:sp>
        <p:nvSpPr>
          <p:cNvPr id="10" name="Shape 8"/>
          <p:cNvSpPr/>
          <p:nvPr/>
        </p:nvSpPr>
        <p:spPr>
          <a:xfrm>
            <a:off x="6309360" y="1737360"/>
            <a:ext cx="4937760" cy="2560320"/>
          </a:xfrm>
          <a:prstGeom prst="roundRect">
            <a:avLst>
              <a:gd name="adj" fmla="val 4286"/>
            </a:avLst>
          </a:prstGeom>
          <a:solidFill>
            <a:srgbClr val="FFFFFF"/>
          </a:solidFill>
          <a:ln w="25400">
            <a:solidFill>
              <a:srgbClr val="E11D48"/>
            </a:solidFill>
            <a:prstDash val="solid"/>
          </a:ln>
        </p:spPr>
      </p:sp>
      <p:sp>
        <p:nvSpPr>
          <p:cNvPr id="11" name="Text 9"/>
          <p:cNvSpPr/>
          <p:nvPr/>
        </p:nvSpPr>
        <p:spPr>
          <a:xfrm>
            <a:off x="6583680" y="1920240"/>
            <a:ext cx="1828800" cy="320040"/>
          </a:xfrm>
          <a:prstGeom prst="rect">
            <a:avLst/>
          </a:prstGeom>
          <a:noFill/>
          <a:ln/>
        </p:spPr>
        <p:txBody>
          <a:bodyPr wrap="square" rtlCol="0" anchor="ctr"/>
          <a:lstStyle/>
          <a:p>
            <a:pPr indent="0" marL="0">
              <a:buNone/>
            </a:pPr>
            <a:r>
              <a:rPr lang="en-US" sz="1200" b="1" dirty="0">
                <a:solidFill>
                  <a:srgbClr val="E11D48"/>
                </a:solidFill>
                <a:latin typeface="Segoe UI" pitchFamily="34" charset="0"/>
                <a:ea typeface="Segoe UI" pitchFamily="34" charset="-122"/>
                <a:cs typeface="Segoe UI" pitchFamily="34" charset="-120"/>
              </a:rPr>
              <a:t>KASUS B</a:t>
            </a:r>
            <a:endParaRPr lang="en-US" sz="1200" dirty="0"/>
          </a:p>
        </p:txBody>
      </p:sp>
      <p:sp>
        <p:nvSpPr>
          <p:cNvPr id="12" name="Text 10"/>
          <p:cNvSpPr/>
          <p:nvPr/>
        </p:nvSpPr>
        <p:spPr>
          <a:xfrm>
            <a:off x="6583680" y="2286000"/>
            <a:ext cx="4389120" cy="731520"/>
          </a:xfrm>
          <a:prstGeom prst="rect">
            <a:avLst/>
          </a:prstGeom>
          <a:noFill/>
          <a:ln/>
        </p:spPr>
        <p:txBody>
          <a:bodyPr wrap="square" rtlCol="0" anchor="ctr"/>
          <a:lstStyle/>
          <a:p>
            <a:pPr algn="ctr" indent="0" marL="0">
              <a:buNone/>
            </a:pPr>
            <a:r>
              <a:rPr lang="en-US" sz="3200" b="1" dirty="0">
                <a:solidFill>
                  <a:srgbClr val="0F172A"/>
                </a:solidFill>
                <a:latin typeface="Segoe UI" pitchFamily="34" charset="0"/>
                <a:ea typeface="Segoe UI" pitchFamily="34" charset="-122"/>
                <a:cs typeface="Segoe UI" pitchFamily="34" charset="-120"/>
              </a:rPr>
              <a:t>3 / (2 / 5)</a:t>
            </a:r>
            <a:endParaRPr lang="en-US" sz="3200" dirty="0"/>
          </a:p>
        </p:txBody>
      </p:sp>
      <p:sp>
        <p:nvSpPr>
          <p:cNvPr id="13" name="Text 11"/>
          <p:cNvSpPr/>
          <p:nvPr/>
        </p:nvSpPr>
        <p:spPr>
          <a:xfrm>
            <a:off x="6583680" y="3108960"/>
            <a:ext cx="4389120" cy="822960"/>
          </a:xfrm>
          <a:prstGeom prst="rect">
            <a:avLst/>
          </a:prstGeom>
          <a:noFill/>
          <a:ln/>
        </p:spPr>
        <p:txBody>
          <a:bodyPr wrap="square" rtlCol="0" anchor="ctr"/>
          <a:lstStyle/>
          <a:p>
            <a:pPr algn="ctr" indent="0" marL="0">
              <a:buNone/>
            </a:pPr>
            <a:r>
              <a:rPr lang="en-US" sz="1200" dirty="0">
                <a:solidFill>
                  <a:srgbClr val="475569"/>
                </a:solidFill>
                <a:latin typeface="Segoe UI" pitchFamily="34" charset="0"/>
                <a:ea typeface="Segoe UI" pitchFamily="34" charset="-122"/>
                <a:cs typeface="Segoe UI" pitchFamily="34" charset="-120"/>
              </a:rPr>
              <a:t>Tiga dibagi oleh dua per lima</a:t>
            </a:r>
            <a:endParaRPr lang="en-US" sz="1200" dirty="0"/>
          </a:p>
          <a:p>
            <a:pPr algn="ctr" indent="0" marL="0">
              <a:buNone/>
            </a:pPr>
            <a:r>
              <a:rPr lang="en-US" sz="1200" dirty="0">
                <a:solidFill>
                  <a:srgbClr val="475569"/>
                </a:solidFill>
                <a:latin typeface="Segoe UI" pitchFamily="34" charset="0"/>
                <a:ea typeface="Segoe UI" pitchFamily="34" charset="-122"/>
                <a:cs typeface="Segoe UI" pitchFamily="34" charset="-120"/>
              </a:rPr>
              <a:t>Hasil = 15 / 2 = 7,50</a:t>
            </a:r>
            <a:endParaRPr lang="en-US" sz="1200" dirty="0"/>
          </a:p>
        </p:txBody>
      </p:sp>
      <p:sp>
        <p:nvSpPr>
          <p:cNvPr id="14" name="Shape 12"/>
          <p:cNvSpPr/>
          <p:nvPr/>
        </p:nvSpPr>
        <p:spPr>
          <a:xfrm>
            <a:off x="914400" y="4526280"/>
            <a:ext cx="10332720" cy="1554480"/>
          </a:xfrm>
          <a:prstGeom prst="roundRect">
            <a:avLst>
              <a:gd name="adj" fmla="val 5882"/>
            </a:avLst>
          </a:prstGeom>
          <a:solidFill>
            <a:srgbClr val="FEF3C7"/>
          </a:solidFill>
          <a:ln w="19050">
            <a:solidFill>
              <a:srgbClr val="D97706"/>
            </a:solidFill>
            <a:prstDash val="solid"/>
          </a:ln>
        </p:spPr>
      </p:sp>
      <p:sp>
        <p:nvSpPr>
          <p:cNvPr id="15" name="Text 13"/>
          <p:cNvSpPr/>
          <p:nvPr/>
        </p:nvSpPr>
        <p:spPr>
          <a:xfrm>
            <a:off x="1188720" y="4663440"/>
            <a:ext cx="9784080" cy="320040"/>
          </a:xfrm>
          <a:prstGeom prst="rect">
            <a:avLst/>
          </a:prstGeom>
          <a:noFill/>
          <a:ln/>
        </p:spPr>
        <p:txBody>
          <a:bodyPr wrap="square" rtlCol="0" anchor="ctr"/>
          <a:lstStyle/>
          <a:p>
            <a:pPr indent="0" marL="0">
              <a:buNone/>
            </a:pPr>
            <a:r>
              <a:rPr lang="en-US" sz="1300" b="1" dirty="0">
                <a:solidFill>
                  <a:srgbClr val="D97706"/>
                </a:solidFill>
                <a:latin typeface="Segoe UI" pitchFamily="34" charset="0"/>
                <a:ea typeface="Segoe UI" pitchFamily="34" charset="-122"/>
                <a:cs typeface="Segoe UI" pitchFamily="34" charset="-120"/>
              </a:rPr>
              <a:t>PELAJARAN PENTING DI LAYAR CAT BKN:</a:t>
            </a:r>
            <a:endParaRPr lang="en-US" sz="1300" dirty="0"/>
          </a:p>
        </p:txBody>
      </p:sp>
      <p:sp>
        <p:nvSpPr>
          <p:cNvPr id="16" name="Text 14"/>
          <p:cNvSpPr/>
          <p:nvPr/>
        </p:nvSpPr>
        <p:spPr>
          <a:xfrm>
            <a:off x="1188720" y="5029200"/>
            <a:ext cx="9784080" cy="91440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1. Angka-angka yang digunakan sangat kecil dan sederhana (hanya 3, 2, dan 5), namun selisih hasilnya mencapai 25 kali lipat (0,30 vs 7,50)!</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2. Peserta yang menghafal 'trik membalik pecahan' tanpa paham tanda kurung/garis pecahan utama sering salah pilih opsi distraktor.</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3. Di bawah stres waktu ujian, BKN sengaja mengeksploitasi celah kebiasaan menghitung terburu-buru peserta.</a:t>
            </a:r>
            <a:endParaRPr lang="en-US" sz="1100" dirty="0"/>
          </a:p>
        </p:txBody>
      </p:sp>
      <p:sp>
        <p:nvSpPr>
          <p:cNvPr id="17" name="Shape 15"/>
          <p:cNvSpPr/>
          <p:nvPr/>
        </p:nvSpPr>
        <p:spPr>
          <a:xfrm>
            <a:off x="731520" y="6309360"/>
            <a:ext cx="10725912" cy="0"/>
          </a:xfrm>
          <a:prstGeom prst="line">
            <a:avLst/>
          </a:prstGeom>
          <a:noFill/>
          <a:ln w="12700">
            <a:solidFill>
              <a:srgbClr val="E2E8F0"/>
            </a:solidFill>
            <a:prstDash val="solid"/>
          </a:ln>
        </p:spPr>
      </p:sp>
      <p:sp>
        <p:nvSpPr>
          <p:cNvPr id="18" name="Text 16"/>
          <p:cNvSpPr/>
          <p:nvPr/>
        </p:nvSpPr>
        <p:spPr>
          <a:xfrm>
            <a:off x="731520" y="6355080"/>
            <a:ext cx="7315200" cy="27432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LESINAJA • Program Persiapan Intensif TIU CPNS 2027</a:t>
            </a:r>
            <a:endParaRPr lang="en-US" sz="900" dirty="0"/>
          </a:p>
        </p:txBody>
      </p:sp>
      <p:sp>
        <p:nvSpPr>
          <p:cNvPr id="19" name="Text 17"/>
          <p:cNvSpPr/>
          <p:nvPr/>
        </p:nvSpPr>
        <p:spPr>
          <a:xfrm>
            <a:off x="9601200" y="6355080"/>
            <a:ext cx="1828800" cy="274320"/>
          </a:xfrm>
          <a:prstGeom prst="rect">
            <a:avLst/>
          </a:prstGeom>
          <a:noFill/>
          <a:ln/>
        </p:spPr>
        <p:txBody>
          <a:bodyPr wrap="square" rtlCol="0" anchor="ctr"/>
          <a:lstStyle/>
          <a:p>
            <a:pPr algn="r" indent="0" marL="0">
              <a:buNone/>
            </a:pPr>
            <a:r>
              <a:rPr lang="en-US" sz="900" dirty="0">
                <a:solidFill>
                  <a:srgbClr val="475569"/>
                </a:solidFill>
                <a:latin typeface="Segoe UI" pitchFamily="34" charset="0"/>
                <a:ea typeface="Segoe UI" pitchFamily="34" charset="-122"/>
                <a:cs typeface="Segoe UI" pitchFamily="34" charset="-120"/>
              </a:rPr>
              <a:t>Slide 3 dari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2563EB"/>
                </a:solidFill>
                <a:latin typeface="Segoe UI" pitchFamily="34" charset="0"/>
                <a:ea typeface="Segoe UI" pitchFamily="34" charset="-122"/>
                <a:cs typeface="Segoe UI" pitchFamily="34" charset="-120"/>
              </a:rPr>
              <a:t>FLASHBACK TIU (BAGIAN 1)</a:t>
            </a:r>
            <a:endParaRPr lang="en-US" sz="10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Kilas Balik 2021–2023: Titik Awal Kematian Tes Hafalan</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475569"/>
                </a:solidFill>
                <a:latin typeface="Segoe UI" pitchFamily="34" charset="0"/>
                <a:ea typeface="Segoe UI" pitchFamily="34" charset="-122"/>
                <a:cs typeface="Segoe UI" pitchFamily="34" charset="-120"/>
              </a:rPr>
              <a:t>Pembersihan materi hafalan kosakata kamus menuju instrumen nalar terstruktur</a:t>
            </a:r>
            <a:endParaRPr lang="en-US" sz="1200" dirty="0"/>
          </a:p>
        </p:txBody>
      </p:sp>
      <p:sp>
        <p:nvSpPr>
          <p:cNvPr id="6" name="Shape 4"/>
          <p:cNvSpPr/>
          <p:nvPr/>
        </p:nvSpPr>
        <p:spPr>
          <a:xfrm>
            <a:off x="731520" y="1691640"/>
            <a:ext cx="5212080" cy="4389120"/>
          </a:xfrm>
          <a:prstGeom prst="roundRect">
            <a:avLst>
              <a:gd name="adj" fmla="val 2500"/>
            </a:avLst>
          </a:prstGeom>
          <a:solidFill>
            <a:srgbClr val="FFFFFF"/>
          </a:solidFill>
          <a:ln w="19050">
            <a:solidFill>
              <a:srgbClr val="E2E8F0"/>
            </a:solidFill>
            <a:prstDash val="solid"/>
          </a:ln>
        </p:spPr>
      </p:sp>
      <p:sp>
        <p:nvSpPr>
          <p:cNvPr id="7" name="Shape 5"/>
          <p:cNvSpPr/>
          <p:nvPr/>
        </p:nvSpPr>
        <p:spPr>
          <a:xfrm>
            <a:off x="1005840" y="1920240"/>
            <a:ext cx="2011680" cy="320040"/>
          </a:xfrm>
          <a:prstGeom prst="roundRect">
            <a:avLst>
              <a:gd name="adj" fmla="val 22857"/>
            </a:avLst>
          </a:prstGeom>
          <a:solidFill>
            <a:srgbClr val="EFF6FF"/>
          </a:solidFill>
          <a:ln w="12700">
            <a:solidFill>
              <a:srgbClr val="2563EB"/>
            </a:solidFill>
            <a:prstDash val="solid"/>
          </a:ln>
        </p:spPr>
      </p:sp>
      <p:sp>
        <p:nvSpPr>
          <p:cNvPr id="8" name="Text 6"/>
          <p:cNvSpPr/>
          <p:nvPr/>
        </p:nvSpPr>
        <p:spPr>
          <a:xfrm>
            <a:off x="1005840" y="1965960"/>
            <a:ext cx="2011680" cy="274320"/>
          </a:xfrm>
          <a:prstGeom prst="rect">
            <a:avLst/>
          </a:prstGeom>
          <a:noFill/>
          <a:ln/>
        </p:spPr>
        <p:txBody>
          <a:bodyPr wrap="square" rtlCol="0" anchor="ctr"/>
          <a:lstStyle/>
          <a:p>
            <a:pPr algn="ctr" indent="0" marL="0">
              <a:buNone/>
            </a:pPr>
            <a:r>
              <a:rPr lang="en-US" sz="1100" b="1" dirty="0">
                <a:solidFill>
                  <a:srgbClr val="2563EB"/>
                </a:solidFill>
                <a:latin typeface="Segoe UI" pitchFamily="34" charset="0"/>
                <a:ea typeface="Segoe UI" pitchFamily="34" charset="-122"/>
                <a:cs typeface="Segoe UI" pitchFamily="34" charset="-120"/>
              </a:rPr>
              <a:t>TAHUN 2021</a:t>
            </a:r>
            <a:endParaRPr lang="en-US" sz="1100" dirty="0"/>
          </a:p>
        </p:txBody>
      </p:sp>
      <p:sp>
        <p:nvSpPr>
          <p:cNvPr id="9" name="Text 7"/>
          <p:cNvSpPr/>
          <p:nvPr/>
        </p:nvSpPr>
        <p:spPr>
          <a:xfrm>
            <a:off x="1005840" y="2331720"/>
            <a:ext cx="4663440" cy="50292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PermenPAN-RB No. 27/2021 &amp; KepmenPAN-RB No. 1023/2021</a:t>
            </a:r>
            <a:endParaRPr lang="en-US" sz="1200" dirty="0"/>
          </a:p>
        </p:txBody>
      </p:sp>
      <p:sp>
        <p:nvSpPr>
          <p:cNvPr id="10" name="Text 8"/>
          <p:cNvSpPr/>
          <p:nvPr/>
        </p:nvSpPr>
        <p:spPr>
          <a:xfrm>
            <a:off x="1005840" y="2880360"/>
            <a:ext cx="4663440" cy="292608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HILANGNYA SINONIM &amp; ANTONIM MURNI:</a:t>
            </a: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Secara resmi menghapus uji hafalan kamus KBBI (seperti 'evokasi = ...', 'impresif &gt;&lt; ...').</a:t>
            </a:r>
            <a:endParaRPr lang="en-US" sz="1100" dirty="0"/>
          </a:p>
          <a:p>
            <a:pPr indent="0" marL="0">
              <a:buNone/>
            </a:pP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FOKUS RESMI KEMAMPUAN VERBAL:</a:t>
            </a: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Hanya ada 3 pilar resmi: Analogi (hubungan kata), Silogisme (penarikan kesimpulan), dan Analitis (informasi bersyarat).</a:t>
            </a:r>
            <a:endParaRPr lang="en-US" sz="1100" dirty="0"/>
          </a:p>
          <a:p>
            <a:pPr indent="0" marL="0">
              <a:buNone/>
            </a:pP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AMBANG BATAS TIU 80 POIN:</a:t>
            </a: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Menetapkan standar minimal 16 soal benar dari total 35 soal (skor 80 dari maksimal 175).</a:t>
            </a:r>
            <a:endParaRPr lang="en-US" sz="1100" dirty="0"/>
          </a:p>
        </p:txBody>
      </p:sp>
      <p:sp>
        <p:nvSpPr>
          <p:cNvPr id="11" name="Shape 9"/>
          <p:cNvSpPr/>
          <p:nvPr/>
        </p:nvSpPr>
        <p:spPr>
          <a:xfrm>
            <a:off x="6217920" y="1691640"/>
            <a:ext cx="5212080" cy="4389120"/>
          </a:xfrm>
          <a:prstGeom prst="roundRect">
            <a:avLst>
              <a:gd name="adj" fmla="val 2500"/>
            </a:avLst>
          </a:prstGeom>
          <a:solidFill>
            <a:srgbClr val="FFFFFF"/>
          </a:solidFill>
          <a:ln w="19050">
            <a:solidFill>
              <a:srgbClr val="E2E8F0"/>
            </a:solidFill>
            <a:prstDash val="solid"/>
          </a:ln>
        </p:spPr>
      </p:sp>
      <p:sp>
        <p:nvSpPr>
          <p:cNvPr id="12" name="Shape 10"/>
          <p:cNvSpPr/>
          <p:nvPr/>
        </p:nvSpPr>
        <p:spPr>
          <a:xfrm>
            <a:off x="6492240" y="1920240"/>
            <a:ext cx="2377440" cy="320040"/>
          </a:xfrm>
          <a:prstGeom prst="roundRect">
            <a:avLst>
              <a:gd name="adj" fmla="val 22857"/>
            </a:avLst>
          </a:prstGeom>
          <a:solidFill>
            <a:srgbClr val="D1FAE5"/>
          </a:solidFill>
          <a:ln w="12700">
            <a:solidFill>
              <a:srgbClr val="059669"/>
            </a:solidFill>
            <a:prstDash val="solid"/>
          </a:ln>
        </p:spPr>
      </p:sp>
      <p:sp>
        <p:nvSpPr>
          <p:cNvPr id="13" name="Text 11"/>
          <p:cNvSpPr/>
          <p:nvPr/>
        </p:nvSpPr>
        <p:spPr>
          <a:xfrm>
            <a:off x="6492240" y="1965960"/>
            <a:ext cx="2377440" cy="274320"/>
          </a:xfrm>
          <a:prstGeom prst="rect">
            <a:avLst/>
          </a:prstGeom>
          <a:noFill/>
          <a:ln/>
        </p:spPr>
        <p:txBody>
          <a:bodyPr wrap="square" rtlCol="0" anchor="ctr"/>
          <a:lstStyle/>
          <a:p>
            <a:pPr algn="ctr" indent="0" marL="0">
              <a:buNone/>
            </a:pPr>
            <a:r>
              <a:rPr lang="en-US" sz="1100" b="1" dirty="0">
                <a:solidFill>
                  <a:srgbClr val="059669"/>
                </a:solidFill>
                <a:latin typeface="Segoe UI" pitchFamily="34" charset="0"/>
                <a:ea typeface="Segoe UI" pitchFamily="34" charset="-122"/>
                <a:cs typeface="Segoe UI" pitchFamily="34" charset="-120"/>
              </a:rPr>
              <a:t>TAHUN 2022 – 2023</a:t>
            </a:r>
            <a:endParaRPr lang="en-US" sz="1100" dirty="0"/>
          </a:p>
        </p:txBody>
      </p:sp>
      <p:sp>
        <p:nvSpPr>
          <p:cNvPr id="14" name="Text 12"/>
          <p:cNvSpPr/>
          <p:nvPr/>
        </p:nvSpPr>
        <p:spPr>
          <a:xfrm>
            <a:off x="6492240" y="2331720"/>
            <a:ext cx="4663440" cy="502920"/>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Masa Transisi: Pergeseran Logika Kuantitatif</a:t>
            </a:r>
            <a:endParaRPr lang="en-US" sz="1200" dirty="0"/>
          </a:p>
        </p:txBody>
      </p:sp>
      <p:sp>
        <p:nvSpPr>
          <p:cNvPr id="15" name="Text 13"/>
          <p:cNvSpPr/>
          <p:nvPr/>
        </p:nvSpPr>
        <p:spPr>
          <a:xfrm>
            <a:off x="6492240" y="2880360"/>
            <a:ext cx="4663440" cy="292608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PENINGKATAN SOAL PERBANDINGAN KUANTITATIF:</a:t>
            </a: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Soal numerik mulai bergeser dari hitungan aritmetika biasa menjadi penentuan hubungan nilai X dan Y (X &gt; Y, X &lt; Y, atau tak dapat ditentukan).</a:t>
            </a:r>
            <a:endParaRPr lang="en-US" sz="1100" dirty="0"/>
          </a:p>
          <a:p>
            <a:pPr indent="0" marL="0">
              <a:buNone/>
            </a:pP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PERGESERAN ANALITIS DUDUK &amp; JADWAL:</a:t>
            </a: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Soal analitis mulai menguji urutan tempat duduk meja bundar dan pembagian jadwal piket dengan 4–5 batasan syarat.</a:t>
            </a:r>
            <a:endParaRPr lang="en-US" sz="1100" dirty="0"/>
          </a:p>
          <a:p>
            <a:pPr indent="0" marL="0">
              <a:buNone/>
            </a:pP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FENOMENA WAKTU TERKURAS:</a:t>
            </a: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Banyak peserta mulai gagal memenuhi passing grade bukan karena salah hitung, melainkan kehabisan waktu membaca narasi panjang.</a:t>
            </a:r>
            <a:endParaRPr lang="en-US" sz="1100" dirty="0"/>
          </a:p>
        </p:txBody>
      </p:sp>
      <p:sp>
        <p:nvSpPr>
          <p:cNvPr id="16" name="Shape 14"/>
          <p:cNvSpPr/>
          <p:nvPr/>
        </p:nvSpPr>
        <p:spPr>
          <a:xfrm>
            <a:off x="731520" y="6309360"/>
            <a:ext cx="10725912" cy="0"/>
          </a:xfrm>
          <a:prstGeom prst="line">
            <a:avLst/>
          </a:prstGeom>
          <a:noFill/>
          <a:ln w="12700">
            <a:solidFill>
              <a:srgbClr val="E2E8F0"/>
            </a:solidFill>
            <a:prstDash val="solid"/>
          </a:ln>
        </p:spPr>
      </p:sp>
      <p:sp>
        <p:nvSpPr>
          <p:cNvPr id="17" name="Text 15"/>
          <p:cNvSpPr/>
          <p:nvPr/>
        </p:nvSpPr>
        <p:spPr>
          <a:xfrm>
            <a:off x="731520" y="6355080"/>
            <a:ext cx="7315200" cy="27432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LESINAJA • Program Persiapan Intensif TIU CPNS 2027</a:t>
            </a:r>
            <a:endParaRPr lang="en-US" sz="900" dirty="0"/>
          </a:p>
        </p:txBody>
      </p:sp>
      <p:sp>
        <p:nvSpPr>
          <p:cNvPr id="18" name="Text 16"/>
          <p:cNvSpPr/>
          <p:nvPr/>
        </p:nvSpPr>
        <p:spPr>
          <a:xfrm>
            <a:off x="9601200" y="6355080"/>
            <a:ext cx="1828800" cy="274320"/>
          </a:xfrm>
          <a:prstGeom prst="rect">
            <a:avLst/>
          </a:prstGeom>
          <a:noFill/>
          <a:ln/>
        </p:spPr>
        <p:txBody>
          <a:bodyPr wrap="square" rtlCol="0" anchor="ctr"/>
          <a:lstStyle/>
          <a:p>
            <a:pPr algn="r" indent="0" marL="0">
              <a:buNone/>
            </a:pPr>
            <a:r>
              <a:rPr lang="en-US" sz="900" dirty="0">
                <a:solidFill>
                  <a:srgbClr val="475569"/>
                </a:solidFill>
                <a:latin typeface="Segoe UI" pitchFamily="34" charset="0"/>
                <a:ea typeface="Segoe UI" pitchFamily="34" charset="-122"/>
                <a:cs typeface="Segoe UI" pitchFamily="34" charset="-120"/>
              </a:rPr>
              <a:t>Slide 4 dari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2563EB"/>
                </a:solidFill>
                <a:latin typeface="Segoe UI" pitchFamily="34" charset="0"/>
                <a:ea typeface="Segoe UI" pitchFamily="34" charset="-122"/>
                <a:cs typeface="Segoe UI" pitchFamily="34" charset="-120"/>
              </a:rPr>
              <a:t>FLASHBACK TIU (BAGIAN 2)</a:t>
            </a:r>
            <a:endParaRPr lang="en-US" sz="10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Kilas Balik 2024–2025: Ledakan HOTS &amp; Mandat UU ASN Baru</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475569"/>
                </a:solidFill>
                <a:latin typeface="Segoe UI" pitchFamily="34" charset="0"/>
                <a:ea typeface="Segoe UI" pitchFamily="34" charset="-122"/>
                <a:cs typeface="Segoe UI" pitchFamily="34" charset="-120"/>
              </a:rPr>
              <a:t>Standardisasi bank soal BKN berbasis Item Response Theory (IRT)</a:t>
            </a:r>
            <a:endParaRPr lang="en-US" sz="1200" dirty="0"/>
          </a:p>
        </p:txBody>
      </p:sp>
      <p:sp>
        <p:nvSpPr>
          <p:cNvPr id="6" name="Shape 4"/>
          <p:cNvSpPr/>
          <p:nvPr/>
        </p:nvSpPr>
        <p:spPr>
          <a:xfrm>
            <a:off x="731520" y="1691640"/>
            <a:ext cx="3429000" cy="4389120"/>
          </a:xfrm>
          <a:prstGeom prst="roundRect">
            <a:avLst>
              <a:gd name="adj" fmla="val 3200"/>
            </a:avLst>
          </a:prstGeom>
          <a:solidFill>
            <a:srgbClr val="FFFFFF"/>
          </a:solidFill>
          <a:ln w="19050">
            <a:solidFill>
              <a:srgbClr val="E2E8F0"/>
            </a:solidFill>
            <a:prstDash val="solid"/>
          </a:ln>
        </p:spPr>
      </p:sp>
      <p:sp>
        <p:nvSpPr>
          <p:cNvPr id="7" name="Shape 5"/>
          <p:cNvSpPr/>
          <p:nvPr/>
        </p:nvSpPr>
        <p:spPr>
          <a:xfrm>
            <a:off x="1005840" y="1965960"/>
            <a:ext cx="2880360" cy="292608"/>
          </a:xfrm>
          <a:prstGeom prst="roundRect">
            <a:avLst>
              <a:gd name="adj" fmla="val 25000"/>
            </a:avLst>
          </a:prstGeom>
          <a:solidFill>
            <a:srgbClr val="EFF6FF"/>
          </a:solidFill>
          <a:ln w="12700">
            <a:solidFill>
              <a:srgbClr val="2563EB"/>
            </a:solidFill>
            <a:prstDash val="solid"/>
          </a:ln>
        </p:spPr>
      </p:sp>
      <p:sp>
        <p:nvSpPr>
          <p:cNvPr id="8" name="Text 6"/>
          <p:cNvSpPr/>
          <p:nvPr/>
        </p:nvSpPr>
        <p:spPr>
          <a:xfrm>
            <a:off x="1005840" y="2011680"/>
            <a:ext cx="2880360" cy="228600"/>
          </a:xfrm>
          <a:prstGeom prst="rect">
            <a:avLst/>
          </a:prstGeom>
          <a:noFill/>
          <a:ln/>
        </p:spPr>
        <p:txBody>
          <a:bodyPr wrap="square" rtlCol="0" anchor="ctr"/>
          <a:lstStyle/>
          <a:p>
            <a:pPr algn="ctr" indent="0" marL="0">
              <a:buNone/>
            </a:pPr>
            <a:r>
              <a:rPr lang="en-US" sz="950" b="1" dirty="0">
                <a:solidFill>
                  <a:srgbClr val="2563EB"/>
                </a:solidFill>
                <a:latin typeface="Segoe UI" pitchFamily="34" charset="0"/>
                <a:ea typeface="Segoe UI" pitchFamily="34" charset="-122"/>
                <a:cs typeface="Segoe UI" pitchFamily="34" charset="-120"/>
              </a:rPr>
              <a:t>PAYUNG HUKUM UTAMA</a:t>
            </a:r>
            <a:endParaRPr lang="en-US" sz="950" dirty="0"/>
          </a:p>
        </p:txBody>
      </p:sp>
      <p:sp>
        <p:nvSpPr>
          <p:cNvPr id="9" name="Text 7"/>
          <p:cNvSpPr/>
          <p:nvPr/>
        </p:nvSpPr>
        <p:spPr>
          <a:xfrm>
            <a:off x="1005840" y="2423160"/>
            <a:ext cx="2880360" cy="64008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UU ASN No. 20 Tahun 2023</a:t>
            </a:r>
            <a:endParaRPr lang="en-US" sz="1300" dirty="0"/>
          </a:p>
        </p:txBody>
      </p:sp>
      <p:sp>
        <p:nvSpPr>
          <p:cNvPr id="10" name="Text 8"/>
          <p:cNvSpPr/>
          <p:nvPr/>
        </p:nvSpPr>
        <p:spPr>
          <a:xfrm>
            <a:off x="1005840" y="3154680"/>
            <a:ext cx="2880360" cy="265176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Mengamanatkan transformasi ASN menuju birokrasi kelas dunia (Smart ASN). Menuntut kemampuan literasi data, pemikiran kritis (critical thinking), dan kecepatan adaptasi nalar.</a:t>
            </a:r>
            <a:endParaRPr lang="en-US" sz="1100" dirty="0"/>
          </a:p>
        </p:txBody>
      </p:sp>
      <p:sp>
        <p:nvSpPr>
          <p:cNvPr id="11" name="Shape 9"/>
          <p:cNvSpPr/>
          <p:nvPr/>
        </p:nvSpPr>
        <p:spPr>
          <a:xfrm>
            <a:off x="4389120" y="1691640"/>
            <a:ext cx="3429000" cy="4389120"/>
          </a:xfrm>
          <a:prstGeom prst="roundRect">
            <a:avLst>
              <a:gd name="adj" fmla="val 3200"/>
            </a:avLst>
          </a:prstGeom>
          <a:solidFill>
            <a:srgbClr val="FFFFFF"/>
          </a:solidFill>
          <a:ln w="19050">
            <a:solidFill>
              <a:srgbClr val="E2E8F0"/>
            </a:solidFill>
            <a:prstDash val="solid"/>
          </a:ln>
        </p:spPr>
      </p:sp>
      <p:sp>
        <p:nvSpPr>
          <p:cNvPr id="12" name="Shape 10"/>
          <p:cNvSpPr/>
          <p:nvPr/>
        </p:nvSpPr>
        <p:spPr>
          <a:xfrm>
            <a:off x="4663440" y="1965960"/>
            <a:ext cx="2880360" cy="292608"/>
          </a:xfrm>
          <a:prstGeom prst="roundRect">
            <a:avLst>
              <a:gd name="adj" fmla="val 25000"/>
            </a:avLst>
          </a:prstGeom>
          <a:solidFill>
            <a:srgbClr val="FEF3C7"/>
          </a:solidFill>
          <a:ln w="12700">
            <a:solidFill>
              <a:srgbClr val="D97706"/>
            </a:solidFill>
            <a:prstDash val="solid"/>
          </a:ln>
        </p:spPr>
      </p:sp>
      <p:sp>
        <p:nvSpPr>
          <p:cNvPr id="13" name="Text 11"/>
          <p:cNvSpPr/>
          <p:nvPr/>
        </p:nvSpPr>
        <p:spPr>
          <a:xfrm>
            <a:off x="4663440" y="2011680"/>
            <a:ext cx="2880360" cy="228600"/>
          </a:xfrm>
          <a:prstGeom prst="rect">
            <a:avLst/>
          </a:prstGeom>
          <a:noFill/>
          <a:ln/>
        </p:spPr>
        <p:txBody>
          <a:bodyPr wrap="square" rtlCol="0" anchor="ctr"/>
          <a:lstStyle/>
          <a:p>
            <a:pPr algn="ctr" indent="0" marL="0">
              <a:buNone/>
            </a:pPr>
            <a:r>
              <a:rPr lang="en-US" sz="950" b="1" dirty="0">
                <a:solidFill>
                  <a:srgbClr val="D97706"/>
                </a:solidFill>
                <a:latin typeface="Segoe UI" pitchFamily="34" charset="0"/>
                <a:ea typeface="Segoe UI" pitchFamily="34" charset="-122"/>
                <a:cs typeface="Segoe UI" pitchFamily="34" charset="-120"/>
              </a:rPr>
              <a:t>REGULASI PENGADAAN</a:t>
            </a:r>
            <a:endParaRPr lang="en-US" sz="950" dirty="0"/>
          </a:p>
        </p:txBody>
      </p:sp>
      <p:sp>
        <p:nvSpPr>
          <p:cNvPr id="14" name="Text 12"/>
          <p:cNvSpPr/>
          <p:nvPr/>
        </p:nvSpPr>
        <p:spPr>
          <a:xfrm>
            <a:off x="4663440" y="2423160"/>
            <a:ext cx="2880360" cy="64008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KepmenPANRB 144 &amp; 321 Tahun 2024</a:t>
            </a:r>
            <a:endParaRPr lang="en-US" sz="1300" dirty="0"/>
          </a:p>
        </p:txBody>
      </p:sp>
      <p:sp>
        <p:nvSpPr>
          <p:cNvPr id="15" name="Text 13"/>
          <p:cNvSpPr/>
          <p:nvPr/>
        </p:nvSpPr>
        <p:spPr>
          <a:xfrm>
            <a:off x="4663440" y="3154680"/>
            <a:ext cx="2880360" cy="265176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Menetapkan standar baku 110 soal SKD (35 TIU, PG: 80). Menegaskan aturan kelulusan maksimal 3x formasi yang menuntut butir soal memiliki daya pembeda tinggi.</a:t>
            </a:r>
            <a:endParaRPr lang="en-US" sz="1100" dirty="0"/>
          </a:p>
        </p:txBody>
      </p:sp>
      <p:sp>
        <p:nvSpPr>
          <p:cNvPr id="16" name="Shape 14"/>
          <p:cNvSpPr/>
          <p:nvPr/>
        </p:nvSpPr>
        <p:spPr>
          <a:xfrm>
            <a:off x="8046720" y="1691640"/>
            <a:ext cx="3429000" cy="4389120"/>
          </a:xfrm>
          <a:prstGeom prst="roundRect">
            <a:avLst>
              <a:gd name="adj" fmla="val 3200"/>
            </a:avLst>
          </a:prstGeom>
          <a:solidFill>
            <a:srgbClr val="FFFFFF"/>
          </a:solidFill>
          <a:ln w="19050">
            <a:solidFill>
              <a:srgbClr val="E2E8F0"/>
            </a:solidFill>
            <a:prstDash val="solid"/>
          </a:ln>
        </p:spPr>
      </p:sp>
      <p:sp>
        <p:nvSpPr>
          <p:cNvPr id="17" name="Shape 15"/>
          <p:cNvSpPr/>
          <p:nvPr/>
        </p:nvSpPr>
        <p:spPr>
          <a:xfrm>
            <a:off x="8321040" y="1965960"/>
            <a:ext cx="2880360" cy="292608"/>
          </a:xfrm>
          <a:prstGeom prst="roundRect">
            <a:avLst>
              <a:gd name="adj" fmla="val 25000"/>
            </a:avLst>
          </a:prstGeom>
          <a:solidFill>
            <a:srgbClr val="FFE4E6"/>
          </a:solidFill>
          <a:ln w="12700">
            <a:solidFill>
              <a:srgbClr val="E11D48"/>
            </a:solidFill>
            <a:prstDash val="solid"/>
          </a:ln>
        </p:spPr>
      </p:sp>
      <p:sp>
        <p:nvSpPr>
          <p:cNvPr id="18" name="Text 16"/>
          <p:cNvSpPr/>
          <p:nvPr/>
        </p:nvSpPr>
        <p:spPr>
          <a:xfrm>
            <a:off x="8321040" y="2011680"/>
            <a:ext cx="2880360" cy="228600"/>
          </a:xfrm>
          <a:prstGeom prst="rect">
            <a:avLst/>
          </a:prstGeom>
          <a:noFill/>
          <a:ln/>
        </p:spPr>
        <p:txBody>
          <a:bodyPr wrap="square" rtlCol="0" anchor="ctr"/>
          <a:lstStyle/>
          <a:p>
            <a:pPr algn="ctr" indent="0" marL="0">
              <a:buNone/>
            </a:pPr>
            <a:r>
              <a:rPr lang="en-US" sz="950" b="1" dirty="0">
                <a:solidFill>
                  <a:srgbClr val="E11D48"/>
                </a:solidFill>
                <a:latin typeface="Segoe UI" pitchFamily="34" charset="0"/>
                <a:ea typeface="Segoe UI" pitchFamily="34" charset="-122"/>
                <a:cs typeface="Segoe UI" pitchFamily="34" charset="-120"/>
              </a:rPr>
              <a:t>TEROBOSAN SOAL BARU</a:t>
            </a:r>
            <a:endParaRPr lang="en-US" sz="950" dirty="0"/>
          </a:p>
        </p:txBody>
      </p:sp>
      <p:sp>
        <p:nvSpPr>
          <p:cNvPr id="19" name="Text 17"/>
          <p:cNvSpPr/>
          <p:nvPr/>
        </p:nvSpPr>
        <p:spPr>
          <a:xfrm>
            <a:off x="8321040" y="2423160"/>
            <a:ext cx="2880360" cy="640080"/>
          </a:xfrm>
          <a:prstGeom prst="rect">
            <a:avLst/>
          </a:prstGeom>
          <a:noFill/>
          <a:ln/>
        </p:spPr>
        <p:txBody>
          <a:bodyPr wrap="square" rtlCol="0" anchor="ctr"/>
          <a:lstStyle/>
          <a:p>
            <a:pPr indent="0" marL="0">
              <a:buNone/>
            </a:pPr>
            <a:r>
              <a:rPr lang="en-US" sz="1300" b="1" dirty="0">
                <a:solidFill>
                  <a:srgbClr val="0F172A"/>
                </a:solidFill>
                <a:latin typeface="Segoe UI" pitchFamily="34" charset="0"/>
                <a:ea typeface="Segoe UI" pitchFamily="34" charset="-122"/>
                <a:cs typeface="Segoe UI" pitchFamily="34" charset="-120"/>
              </a:rPr>
              <a:t>Debut Soal Matriks &amp; Pecahan Bersusun</a:t>
            </a:r>
            <a:endParaRPr lang="en-US" sz="1300" dirty="0"/>
          </a:p>
        </p:txBody>
      </p:sp>
      <p:sp>
        <p:nvSpPr>
          <p:cNvPr id="20" name="Text 18"/>
          <p:cNvSpPr/>
          <p:nvPr/>
        </p:nvSpPr>
        <p:spPr>
          <a:xfrm>
            <a:off x="8321040" y="3154680"/>
            <a:ext cx="2880360" cy="265176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Field Report (FR) 2024 dikejutkan oleh munculnya pecahan bersusun ganda, aljabar selisih kuadrat (a²-b²), dan figural matriks 9 kotak (3x3) di layar CAT.</a:t>
            </a:r>
            <a:endParaRPr lang="en-US" sz="1100" dirty="0"/>
          </a:p>
        </p:txBody>
      </p:sp>
      <p:sp>
        <p:nvSpPr>
          <p:cNvPr id="21" name="Shape 19"/>
          <p:cNvSpPr/>
          <p:nvPr/>
        </p:nvSpPr>
        <p:spPr>
          <a:xfrm>
            <a:off x="731520" y="6309360"/>
            <a:ext cx="10725912" cy="0"/>
          </a:xfrm>
          <a:prstGeom prst="line">
            <a:avLst/>
          </a:prstGeom>
          <a:noFill/>
          <a:ln w="12700">
            <a:solidFill>
              <a:srgbClr val="E2E8F0"/>
            </a:solidFill>
            <a:prstDash val="solid"/>
          </a:ln>
        </p:spPr>
      </p:sp>
      <p:sp>
        <p:nvSpPr>
          <p:cNvPr id="22" name="Text 20"/>
          <p:cNvSpPr/>
          <p:nvPr/>
        </p:nvSpPr>
        <p:spPr>
          <a:xfrm>
            <a:off x="731520" y="6355080"/>
            <a:ext cx="7315200" cy="27432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LESINAJA • Program Persiapan Intensif TIU CPNS 2027</a:t>
            </a:r>
            <a:endParaRPr lang="en-US" sz="900" dirty="0"/>
          </a:p>
        </p:txBody>
      </p:sp>
      <p:sp>
        <p:nvSpPr>
          <p:cNvPr id="23" name="Text 21"/>
          <p:cNvSpPr/>
          <p:nvPr/>
        </p:nvSpPr>
        <p:spPr>
          <a:xfrm>
            <a:off x="9601200" y="6355080"/>
            <a:ext cx="1828800" cy="274320"/>
          </a:xfrm>
          <a:prstGeom prst="rect">
            <a:avLst/>
          </a:prstGeom>
          <a:noFill/>
          <a:ln/>
        </p:spPr>
        <p:txBody>
          <a:bodyPr wrap="square" rtlCol="0" anchor="ctr"/>
          <a:lstStyle/>
          <a:p>
            <a:pPr algn="r" indent="0" marL="0">
              <a:buNone/>
            </a:pPr>
            <a:r>
              <a:rPr lang="en-US" sz="900" dirty="0">
                <a:solidFill>
                  <a:srgbClr val="475569"/>
                </a:solidFill>
                <a:latin typeface="Segoe UI" pitchFamily="34" charset="0"/>
                <a:ea typeface="Segoe UI" pitchFamily="34" charset="-122"/>
                <a:cs typeface="Segoe UI" pitchFamily="34" charset="-120"/>
              </a:rPr>
              <a:t>Slide 5 dari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2563EB"/>
                </a:solidFill>
                <a:latin typeface="Segoe UI" pitchFamily="34" charset="0"/>
                <a:ea typeface="Segoe UI" pitchFamily="34" charset="-122"/>
                <a:cs typeface="Segoe UI" pitchFamily="34" charset="-120"/>
              </a:rPr>
              <a:t>BEDAH FR KEDINASAN 2026</a:t>
            </a:r>
            <a:endParaRPr lang="en-US" sz="10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Anatomi TIU Terkini: Tiga Pilar Soal yang Menguras Nalar</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475569"/>
                </a:solidFill>
                <a:latin typeface="Segoe UI" pitchFamily="34" charset="0"/>
                <a:ea typeface="Segoe UI" pitchFamily="34" charset="-122"/>
                <a:cs typeface="Segoe UI" pitchFamily="34" charset="-120"/>
              </a:rPr>
              <a:t>Rangkuman komprehensif tipe soal yang paling banyak menggugurkan peserta di CAT 2026</a:t>
            </a:r>
            <a:endParaRPr lang="en-US" sz="1200" dirty="0"/>
          </a:p>
        </p:txBody>
      </p:sp>
      <p:sp>
        <p:nvSpPr>
          <p:cNvPr id="6" name="Shape 4"/>
          <p:cNvSpPr/>
          <p:nvPr/>
        </p:nvSpPr>
        <p:spPr>
          <a:xfrm>
            <a:off x="731520" y="1691640"/>
            <a:ext cx="3429000" cy="4389120"/>
          </a:xfrm>
          <a:prstGeom prst="roundRect">
            <a:avLst>
              <a:gd name="adj" fmla="val 3200"/>
            </a:avLst>
          </a:prstGeom>
          <a:solidFill>
            <a:srgbClr val="FFFFFF"/>
          </a:solidFill>
          <a:ln w="19050">
            <a:solidFill>
              <a:srgbClr val="E2E8F0"/>
            </a:solidFill>
            <a:prstDash val="solid"/>
          </a:ln>
        </p:spPr>
      </p:sp>
      <p:sp>
        <p:nvSpPr>
          <p:cNvPr id="7" name="Shape 5"/>
          <p:cNvSpPr/>
          <p:nvPr/>
        </p:nvSpPr>
        <p:spPr>
          <a:xfrm>
            <a:off x="960120" y="1920240"/>
            <a:ext cx="2971800" cy="594360"/>
          </a:xfrm>
          <a:prstGeom prst="roundRect">
            <a:avLst>
              <a:gd name="adj" fmla="val 12308"/>
            </a:avLst>
          </a:prstGeom>
          <a:solidFill>
            <a:srgbClr val="EFF6FF"/>
          </a:solidFill>
          <a:ln w="12700">
            <a:solidFill>
              <a:srgbClr val="2563EB"/>
            </a:solidFill>
            <a:prstDash val="solid"/>
          </a:ln>
        </p:spPr>
      </p:sp>
      <p:sp>
        <p:nvSpPr>
          <p:cNvPr id="8" name="Text 6"/>
          <p:cNvSpPr/>
          <p:nvPr/>
        </p:nvSpPr>
        <p:spPr>
          <a:xfrm>
            <a:off x="960120" y="1993392"/>
            <a:ext cx="2971800" cy="274320"/>
          </a:xfrm>
          <a:prstGeom prst="rect">
            <a:avLst/>
          </a:prstGeom>
          <a:noFill/>
          <a:ln/>
        </p:spPr>
        <p:txBody>
          <a:bodyPr wrap="square" rtlCol="0" anchor="ctr"/>
          <a:lstStyle/>
          <a:p>
            <a:pPr algn="ctr" indent="0" marL="0">
              <a:buNone/>
            </a:pPr>
            <a:r>
              <a:rPr lang="en-US" sz="1200" b="1" dirty="0">
                <a:solidFill>
                  <a:srgbClr val="2563EB"/>
                </a:solidFill>
                <a:latin typeface="Segoe UI" pitchFamily="34" charset="0"/>
                <a:ea typeface="Segoe UI" pitchFamily="34" charset="-122"/>
                <a:cs typeface="Segoe UI" pitchFamily="34" charset="-120"/>
              </a:rPr>
              <a:t>1. VERBAL NALAR</a:t>
            </a:r>
            <a:endParaRPr lang="en-US" sz="1200" dirty="0"/>
          </a:p>
        </p:txBody>
      </p:sp>
      <p:sp>
        <p:nvSpPr>
          <p:cNvPr id="9" name="Text 7"/>
          <p:cNvSpPr/>
          <p:nvPr/>
        </p:nvSpPr>
        <p:spPr>
          <a:xfrm>
            <a:off x="960120" y="2240280"/>
            <a:ext cx="2971800" cy="22860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10 Butir Soal</a:t>
            </a:r>
            <a:endParaRPr lang="en-US" sz="950" dirty="0"/>
          </a:p>
        </p:txBody>
      </p:sp>
      <p:sp>
        <p:nvSpPr>
          <p:cNvPr id="10" name="Shape 8"/>
          <p:cNvSpPr/>
          <p:nvPr/>
        </p:nvSpPr>
        <p:spPr>
          <a:xfrm>
            <a:off x="960120" y="2697480"/>
            <a:ext cx="2971800" cy="960120"/>
          </a:xfrm>
          <a:prstGeom prst="roundRect">
            <a:avLst>
              <a:gd name="adj" fmla="val 5714"/>
            </a:avLst>
          </a:prstGeom>
          <a:solidFill>
            <a:srgbClr val="F8FAFC"/>
          </a:solidFill>
          <a:ln w="12700">
            <a:solidFill>
              <a:srgbClr val="E2E8F0"/>
            </a:solidFill>
            <a:prstDash val="solid"/>
          </a:ln>
        </p:spPr>
      </p:sp>
      <p:sp>
        <p:nvSpPr>
          <p:cNvPr id="11" name="Text 9"/>
          <p:cNvSpPr/>
          <p:nvPr/>
        </p:nvSpPr>
        <p:spPr>
          <a:xfrm>
            <a:off x="1051560" y="2770632"/>
            <a:ext cx="2788920" cy="82296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Analogi 3 Konsep: Hubungan sebab-akibat bertingkat (Input → Proses → Output).</a:t>
            </a:r>
            <a:endParaRPr lang="en-US" sz="1000" dirty="0"/>
          </a:p>
        </p:txBody>
      </p:sp>
      <p:sp>
        <p:nvSpPr>
          <p:cNvPr id="12" name="Shape 10"/>
          <p:cNvSpPr/>
          <p:nvPr/>
        </p:nvSpPr>
        <p:spPr>
          <a:xfrm>
            <a:off x="960120" y="3794760"/>
            <a:ext cx="2971800" cy="960120"/>
          </a:xfrm>
          <a:prstGeom prst="roundRect">
            <a:avLst>
              <a:gd name="adj" fmla="val 5714"/>
            </a:avLst>
          </a:prstGeom>
          <a:solidFill>
            <a:srgbClr val="F8FAFC"/>
          </a:solidFill>
          <a:ln w="12700">
            <a:solidFill>
              <a:srgbClr val="E2E8F0"/>
            </a:solidFill>
            <a:prstDash val="solid"/>
          </a:ln>
        </p:spPr>
      </p:sp>
      <p:sp>
        <p:nvSpPr>
          <p:cNvPr id="13" name="Text 11"/>
          <p:cNvSpPr/>
          <p:nvPr/>
        </p:nvSpPr>
        <p:spPr>
          <a:xfrm>
            <a:off x="1051560" y="3867912"/>
            <a:ext cx="2788920" cy="82296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Silogisme Negasi: Menuntut hukum kontraposisi (~Q → ~P) dan disjungsi.</a:t>
            </a:r>
            <a:endParaRPr lang="en-US" sz="1000" dirty="0"/>
          </a:p>
        </p:txBody>
      </p:sp>
      <p:sp>
        <p:nvSpPr>
          <p:cNvPr id="14" name="Shape 12"/>
          <p:cNvSpPr/>
          <p:nvPr/>
        </p:nvSpPr>
        <p:spPr>
          <a:xfrm>
            <a:off x="960120" y="4892040"/>
            <a:ext cx="2971800" cy="960120"/>
          </a:xfrm>
          <a:prstGeom prst="roundRect">
            <a:avLst>
              <a:gd name="adj" fmla="val 5714"/>
            </a:avLst>
          </a:prstGeom>
          <a:solidFill>
            <a:srgbClr val="F8FAFC"/>
          </a:solidFill>
          <a:ln w="12700">
            <a:solidFill>
              <a:srgbClr val="E2E8F0"/>
            </a:solidFill>
            <a:prstDash val="solid"/>
          </a:ln>
        </p:spPr>
      </p:sp>
      <p:sp>
        <p:nvSpPr>
          <p:cNvPr id="15" name="Text 13"/>
          <p:cNvSpPr/>
          <p:nvPr/>
        </p:nvSpPr>
        <p:spPr>
          <a:xfrm>
            <a:off x="1051560" y="4965192"/>
            <a:ext cx="2788920" cy="82296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Analitis Posisi Multidimensi: Susunan meja makan bundar dan penugasan bersyarat 5-6 orang.</a:t>
            </a:r>
            <a:endParaRPr lang="en-US" sz="1000" dirty="0"/>
          </a:p>
        </p:txBody>
      </p:sp>
      <p:sp>
        <p:nvSpPr>
          <p:cNvPr id="16" name="Shape 14"/>
          <p:cNvSpPr/>
          <p:nvPr/>
        </p:nvSpPr>
        <p:spPr>
          <a:xfrm>
            <a:off x="4389120" y="1691640"/>
            <a:ext cx="3429000" cy="4389120"/>
          </a:xfrm>
          <a:prstGeom prst="roundRect">
            <a:avLst>
              <a:gd name="adj" fmla="val 3200"/>
            </a:avLst>
          </a:prstGeom>
          <a:solidFill>
            <a:srgbClr val="FFFFFF"/>
          </a:solidFill>
          <a:ln w="19050">
            <a:solidFill>
              <a:srgbClr val="E2E8F0"/>
            </a:solidFill>
            <a:prstDash val="solid"/>
          </a:ln>
        </p:spPr>
      </p:sp>
      <p:sp>
        <p:nvSpPr>
          <p:cNvPr id="17" name="Shape 15"/>
          <p:cNvSpPr/>
          <p:nvPr/>
        </p:nvSpPr>
        <p:spPr>
          <a:xfrm>
            <a:off x="4617720" y="1920240"/>
            <a:ext cx="2971800" cy="594360"/>
          </a:xfrm>
          <a:prstGeom prst="roundRect">
            <a:avLst>
              <a:gd name="adj" fmla="val 12308"/>
            </a:avLst>
          </a:prstGeom>
          <a:solidFill>
            <a:srgbClr val="D1FAE5"/>
          </a:solidFill>
          <a:ln w="12700">
            <a:solidFill>
              <a:srgbClr val="059669"/>
            </a:solidFill>
            <a:prstDash val="solid"/>
          </a:ln>
        </p:spPr>
      </p:sp>
      <p:sp>
        <p:nvSpPr>
          <p:cNvPr id="18" name="Text 16"/>
          <p:cNvSpPr/>
          <p:nvPr/>
        </p:nvSpPr>
        <p:spPr>
          <a:xfrm>
            <a:off x="4617720" y="1993392"/>
            <a:ext cx="2971800" cy="274320"/>
          </a:xfrm>
          <a:prstGeom prst="rect">
            <a:avLst/>
          </a:prstGeom>
          <a:noFill/>
          <a:ln/>
        </p:spPr>
        <p:txBody>
          <a:bodyPr wrap="square" rtlCol="0" anchor="ctr"/>
          <a:lstStyle/>
          <a:p>
            <a:pPr algn="ctr" indent="0" marL="0">
              <a:buNone/>
            </a:pPr>
            <a:r>
              <a:rPr lang="en-US" sz="1200" b="1" dirty="0">
                <a:solidFill>
                  <a:srgbClr val="059669"/>
                </a:solidFill>
                <a:latin typeface="Segoe UI" pitchFamily="34" charset="0"/>
                <a:ea typeface="Segoe UI" pitchFamily="34" charset="-122"/>
                <a:cs typeface="Segoe UI" pitchFamily="34" charset="-120"/>
              </a:rPr>
              <a:t>2. NUMERIK &amp; DERET</a:t>
            </a:r>
            <a:endParaRPr lang="en-US" sz="1200" dirty="0"/>
          </a:p>
        </p:txBody>
      </p:sp>
      <p:sp>
        <p:nvSpPr>
          <p:cNvPr id="19" name="Text 17"/>
          <p:cNvSpPr/>
          <p:nvPr/>
        </p:nvSpPr>
        <p:spPr>
          <a:xfrm>
            <a:off x="4617720" y="2240280"/>
            <a:ext cx="2971800" cy="22860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15 Butir Soal</a:t>
            </a:r>
            <a:endParaRPr lang="en-US" sz="950" dirty="0"/>
          </a:p>
        </p:txBody>
      </p:sp>
      <p:sp>
        <p:nvSpPr>
          <p:cNvPr id="20" name="Shape 18"/>
          <p:cNvSpPr/>
          <p:nvPr/>
        </p:nvSpPr>
        <p:spPr>
          <a:xfrm>
            <a:off x="4617720" y="2697480"/>
            <a:ext cx="2971800" cy="960120"/>
          </a:xfrm>
          <a:prstGeom prst="roundRect">
            <a:avLst>
              <a:gd name="adj" fmla="val 5714"/>
            </a:avLst>
          </a:prstGeom>
          <a:solidFill>
            <a:srgbClr val="F8FAFC"/>
          </a:solidFill>
          <a:ln w="12700">
            <a:solidFill>
              <a:srgbClr val="E2E8F0"/>
            </a:solidFill>
            <a:prstDash val="solid"/>
          </a:ln>
        </p:spPr>
      </p:sp>
      <p:sp>
        <p:nvSpPr>
          <p:cNvPr id="21" name="Text 19"/>
          <p:cNvSpPr/>
          <p:nvPr/>
        </p:nvSpPr>
        <p:spPr>
          <a:xfrm>
            <a:off x="4709160" y="2770632"/>
            <a:ext cx="2788920" cy="82296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Pecahan Bersusun Majemuk: Hirarki pembagian bertingkat tanpa bantuan kalkulator.</a:t>
            </a:r>
            <a:endParaRPr lang="en-US" sz="1000" dirty="0"/>
          </a:p>
        </p:txBody>
      </p:sp>
      <p:sp>
        <p:nvSpPr>
          <p:cNvPr id="22" name="Shape 20"/>
          <p:cNvSpPr/>
          <p:nvPr/>
        </p:nvSpPr>
        <p:spPr>
          <a:xfrm>
            <a:off x="4617720" y="3794760"/>
            <a:ext cx="2971800" cy="960120"/>
          </a:xfrm>
          <a:prstGeom prst="roundRect">
            <a:avLst>
              <a:gd name="adj" fmla="val 5714"/>
            </a:avLst>
          </a:prstGeom>
          <a:solidFill>
            <a:srgbClr val="F8FAFC"/>
          </a:solidFill>
          <a:ln w="12700">
            <a:solidFill>
              <a:srgbClr val="E2E8F0"/>
            </a:solidFill>
            <a:prstDash val="solid"/>
          </a:ln>
        </p:spPr>
      </p:sp>
      <p:sp>
        <p:nvSpPr>
          <p:cNvPr id="23" name="Text 21"/>
          <p:cNvSpPr/>
          <p:nvPr/>
        </p:nvSpPr>
        <p:spPr>
          <a:xfrm>
            <a:off x="4709160" y="3867912"/>
            <a:ext cx="2788920" cy="82296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Faktorisasi Aljabar Cepat: Penyelesaian angka ribuan menggunakan (a-b)(a+b).</a:t>
            </a:r>
            <a:endParaRPr lang="en-US" sz="1000" dirty="0"/>
          </a:p>
        </p:txBody>
      </p:sp>
      <p:sp>
        <p:nvSpPr>
          <p:cNvPr id="24" name="Shape 22"/>
          <p:cNvSpPr/>
          <p:nvPr/>
        </p:nvSpPr>
        <p:spPr>
          <a:xfrm>
            <a:off x="4617720" y="4892040"/>
            <a:ext cx="2971800" cy="960120"/>
          </a:xfrm>
          <a:prstGeom prst="roundRect">
            <a:avLst>
              <a:gd name="adj" fmla="val 5714"/>
            </a:avLst>
          </a:prstGeom>
          <a:solidFill>
            <a:srgbClr val="F8FAFC"/>
          </a:solidFill>
          <a:ln w="12700">
            <a:solidFill>
              <a:srgbClr val="E2E8F0"/>
            </a:solidFill>
            <a:prstDash val="solid"/>
          </a:ln>
        </p:spPr>
      </p:sp>
      <p:sp>
        <p:nvSpPr>
          <p:cNvPr id="25" name="Text 23"/>
          <p:cNvSpPr/>
          <p:nvPr/>
        </p:nvSpPr>
        <p:spPr>
          <a:xfrm>
            <a:off x="4709160" y="4965192"/>
            <a:ext cx="2788920" cy="82296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Deret Alfanumerik &amp; Matriks Angka: Pola kuadratik bertingkat dan tabel operasi khusus.</a:t>
            </a:r>
            <a:endParaRPr lang="en-US" sz="1000" dirty="0"/>
          </a:p>
        </p:txBody>
      </p:sp>
      <p:sp>
        <p:nvSpPr>
          <p:cNvPr id="26" name="Shape 24"/>
          <p:cNvSpPr/>
          <p:nvPr/>
        </p:nvSpPr>
        <p:spPr>
          <a:xfrm>
            <a:off x="8046720" y="1691640"/>
            <a:ext cx="3429000" cy="4389120"/>
          </a:xfrm>
          <a:prstGeom prst="roundRect">
            <a:avLst>
              <a:gd name="adj" fmla="val 3200"/>
            </a:avLst>
          </a:prstGeom>
          <a:solidFill>
            <a:srgbClr val="FFFFFF"/>
          </a:solidFill>
          <a:ln w="19050">
            <a:solidFill>
              <a:srgbClr val="E2E8F0"/>
            </a:solidFill>
            <a:prstDash val="solid"/>
          </a:ln>
        </p:spPr>
      </p:sp>
      <p:sp>
        <p:nvSpPr>
          <p:cNvPr id="27" name="Shape 25"/>
          <p:cNvSpPr/>
          <p:nvPr/>
        </p:nvSpPr>
        <p:spPr>
          <a:xfrm>
            <a:off x="8275320" y="1920240"/>
            <a:ext cx="2971800" cy="594360"/>
          </a:xfrm>
          <a:prstGeom prst="roundRect">
            <a:avLst>
              <a:gd name="adj" fmla="val 12308"/>
            </a:avLst>
          </a:prstGeom>
          <a:solidFill>
            <a:srgbClr val="FEF3C7"/>
          </a:solidFill>
          <a:ln w="12700">
            <a:solidFill>
              <a:srgbClr val="D97706"/>
            </a:solidFill>
            <a:prstDash val="solid"/>
          </a:ln>
        </p:spPr>
      </p:sp>
      <p:sp>
        <p:nvSpPr>
          <p:cNvPr id="28" name="Text 26"/>
          <p:cNvSpPr/>
          <p:nvPr/>
        </p:nvSpPr>
        <p:spPr>
          <a:xfrm>
            <a:off x="8275320" y="1993392"/>
            <a:ext cx="2971800" cy="274320"/>
          </a:xfrm>
          <a:prstGeom prst="rect">
            <a:avLst/>
          </a:prstGeom>
          <a:noFill/>
          <a:ln/>
        </p:spPr>
        <p:txBody>
          <a:bodyPr wrap="square" rtlCol="0" anchor="ctr"/>
          <a:lstStyle/>
          <a:p>
            <a:pPr algn="ctr" indent="0" marL="0">
              <a:buNone/>
            </a:pPr>
            <a:r>
              <a:rPr lang="en-US" sz="1200" b="1" dirty="0">
                <a:solidFill>
                  <a:srgbClr val="D97706"/>
                </a:solidFill>
                <a:latin typeface="Segoe UI" pitchFamily="34" charset="0"/>
                <a:ea typeface="Segoe UI" pitchFamily="34" charset="-122"/>
                <a:cs typeface="Segoe UI" pitchFamily="34" charset="-120"/>
              </a:rPr>
              <a:t>3. FIGURAL SPASIAL</a:t>
            </a:r>
            <a:endParaRPr lang="en-US" sz="1200" dirty="0"/>
          </a:p>
        </p:txBody>
      </p:sp>
      <p:sp>
        <p:nvSpPr>
          <p:cNvPr id="29" name="Text 27"/>
          <p:cNvSpPr/>
          <p:nvPr/>
        </p:nvSpPr>
        <p:spPr>
          <a:xfrm>
            <a:off x="8275320" y="2240280"/>
            <a:ext cx="2971800" cy="22860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10 Butir Soal</a:t>
            </a:r>
            <a:endParaRPr lang="en-US" sz="950" dirty="0"/>
          </a:p>
        </p:txBody>
      </p:sp>
      <p:sp>
        <p:nvSpPr>
          <p:cNvPr id="30" name="Shape 28"/>
          <p:cNvSpPr/>
          <p:nvPr/>
        </p:nvSpPr>
        <p:spPr>
          <a:xfrm>
            <a:off x="8275320" y="2697480"/>
            <a:ext cx="2971800" cy="960120"/>
          </a:xfrm>
          <a:prstGeom prst="roundRect">
            <a:avLst>
              <a:gd name="adj" fmla="val 5714"/>
            </a:avLst>
          </a:prstGeom>
          <a:solidFill>
            <a:srgbClr val="F8FAFC"/>
          </a:solidFill>
          <a:ln w="12700">
            <a:solidFill>
              <a:srgbClr val="E2E8F0"/>
            </a:solidFill>
            <a:prstDash val="solid"/>
          </a:ln>
        </p:spPr>
      </p:sp>
      <p:sp>
        <p:nvSpPr>
          <p:cNvPr id="31" name="Text 29"/>
          <p:cNvSpPr/>
          <p:nvPr/>
        </p:nvSpPr>
        <p:spPr>
          <a:xfrm>
            <a:off x="8366760" y="2770632"/>
            <a:ext cx="2788920" cy="82296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Matriks 9 Kotak (3x3): Dua elemen bergerak independen dalam satu frame.</a:t>
            </a:r>
            <a:endParaRPr lang="en-US" sz="1000" dirty="0"/>
          </a:p>
        </p:txBody>
      </p:sp>
      <p:sp>
        <p:nvSpPr>
          <p:cNvPr id="32" name="Shape 30"/>
          <p:cNvSpPr/>
          <p:nvPr/>
        </p:nvSpPr>
        <p:spPr>
          <a:xfrm>
            <a:off x="8275320" y="3794760"/>
            <a:ext cx="2971800" cy="960120"/>
          </a:xfrm>
          <a:prstGeom prst="roundRect">
            <a:avLst>
              <a:gd name="adj" fmla="val 5714"/>
            </a:avLst>
          </a:prstGeom>
          <a:solidFill>
            <a:srgbClr val="F8FAFC"/>
          </a:solidFill>
          <a:ln w="12700">
            <a:solidFill>
              <a:srgbClr val="E2E8F0"/>
            </a:solidFill>
            <a:prstDash val="solid"/>
          </a:ln>
        </p:spPr>
      </p:sp>
      <p:sp>
        <p:nvSpPr>
          <p:cNvPr id="33" name="Text 31"/>
          <p:cNvSpPr/>
          <p:nvPr/>
        </p:nvSpPr>
        <p:spPr>
          <a:xfrm>
            <a:off x="8366760" y="3867912"/>
            <a:ext cx="2788920" cy="82296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Ketidaksamaan Refleksi vs Rotasi: Membedakan putaran sudut dengan bayangan cermin.</a:t>
            </a:r>
            <a:endParaRPr lang="en-US" sz="1000" dirty="0"/>
          </a:p>
        </p:txBody>
      </p:sp>
      <p:sp>
        <p:nvSpPr>
          <p:cNvPr id="34" name="Shape 32"/>
          <p:cNvSpPr/>
          <p:nvPr/>
        </p:nvSpPr>
        <p:spPr>
          <a:xfrm>
            <a:off x="8275320" y="4892040"/>
            <a:ext cx="2971800" cy="960120"/>
          </a:xfrm>
          <a:prstGeom prst="roundRect">
            <a:avLst>
              <a:gd name="adj" fmla="val 5714"/>
            </a:avLst>
          </a:prstGeom>
          <a:solidFill>
            <a:srgbClr val="F8FAFC"/>
          </a:solidFill>
          <a:ln w="12700">
            <a:solidFill>
              <a:srgbClr val="E2E8F0"/>
            </a:solidFill>
            <a:prstDash val="solid"/>
          </a:ln>
        </p:spPr>
      </p:sp>
      <p:sp>
        <p:nvSpPr>
          <p:cNvPr id="35" name="Text 33"/>
          <p:cNvSpPr/>
          <p:nvPr/>
        </p:nvSpPr>
        <p:spPr>
          <a:xfrm>
            <a:off x="8366760" y="4965192"/>
            <a:ext cx="2788920" cy="822960"/>
          </a:xfrm>
          <a:prstGeom prst="rect">
            <a:avLst/>
          </a:prstGeom>
          <a:noFill/>
          <a:ln/>
        </p:spPr>
        <p:txBody>
          <a:bodyPr wrap="square" rtlCol="0" anchor="ctr"/>
          <a:lstStyle/>
          <a:p>
            <a:pPr indent="0" marL="0">
              <a:buNone/>
            </a:pPr>
            <a:r>
              <a:rPr lang="en-US" sz="1000" dirty="0">
                <a:solidFill>
                  <a:srgbClr val="0F172A"/>
                </a:solidFill>
                <a:latin typeface="Segoe UI" pitchFamily="34" charset="0"/>
                <a:ea typeface="Segoe UI" pitchFamily="34" charset="-122"/>
                <a:cs typeface="Segoe UI" pitchFamily="34" charset="-120"/>
              </a:rPr>
              <a:t>Analogi Serial Bertingkat: Penambahan sudut geometri berselingan warna.</a:t>
            </a:r>
            <a:endParaRPr lang="en-US" sz="1000" dirty="0"/>
          </a:p>
        </p:txBody>
      </p:sp>
      <p:sp>
        <p:nvSpPr>
          <p:cNvPr id="36" name="Shape 34"/>
          <p:cNvSpPr/>
          <p:nvPr/>
        </p:nvSpPr>
        <p:spPr>
          <a:xfrm>
            <a:off x="731520" y="6309360"/>
            <a:ext cx="10725912" cy="0"/>
          </a:xfrm>
          <a:prstGeom prst="line">
            <a:avLst/>
          </a:prstGeom>
          <a:noFill/>
          <a:ln w="12700">
            <a:solidFill>
              <a:srgbClr val="E2E8F0"/>
            </a:solidFill>
            <a:prstDash val="solid"/>
          </a:ln>
        </p:spPr>
      </p:sp>
      <p:sp>
        <p:nvSpPr>
          <p:cNvPr id="37" name="Text 35"/>
          <p:cNvSpPr/>
          <p:nvPr/>
        </p:nvSpPr>
        <p:spPr>
          <a:xfrm>
            <a:off x="731520" y="6355080"/>
            <a:ext cx="7315200" cy="27432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LESINAJA • Program Persiapan Intensif TIU CPNS 2027</a:t>
            </a:r>
            <a:endParaRPr lang="en-US" sz="900" dirty="0"/>
          </a:p>
        </p:txBody>
      </p:sp>
      <p:sp>
        <p:nvSpPr>
          <p:cNvPr id="38" name="Text 36"/>
          <p:cNvSpPr/>
          <p:nvPr/>
        </p:nvSpPr>
        <p:spPr>
          <a:xfrm>
            <a:off x="9601200" y="6355080"/>
            <a:ext cx="1828800" cy="274320"/>
          </a:xfrm>
          <a:prstGeom prst="rect">
            <a:avLst/>
          </a:prstGeom>
          <a:noFill/>
          <a:ln/>
        </p:spPr>
        <p:txBody>
          <a:bodyPr wrap="square" rtlCol="0" anchor="ctr"/>
          <a:lstStyle/>
          <a:p>
            <a:pPr algn="r" indent="0" marL="0">
              <a:buNone/>
            </a:pPr>
            <a:r>
              <a:rPr lang="en-US" sz="900" dirty="0">
                <a:solidFill>
                  <a:srgbClr val="475569"/>
                </a:solidFill>
                <a:latin typeface="Segoe UI" pitchFamily="34" charset="0"/>
                <a:ea typeface="Segoe UI" pitchFamily="34" charset="-122"/>
                <a:cs typeface="Segoe UI" pitchFamily="34" charset="-120"/>
              </a:rPr>
              <a:t>Slide 6 dari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2563EB"/>
                </a:solidFill>
                <a:latin typeface="Segoe UI" pitchFamily="34" charset="0"/>
                <a:ea typeface="Segoe UI" pitchFamily="34" charset="-122"/>
                <a:cs typeface="Segoe UI" pitchFamily="34" charset="-120"/>
              </a:rPr>
              <a:t>FILOSOFI DAPUR BKN</a:t>
            </a:r>
            <a:endParaRPr lang="en-US" sz="10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Mengapa Rumus Cepat Saja Tidak Cukup? Filosofi Resmi BKN</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475569"/>
                </a:solidFill>
                <a:latin typeface="Segoe UI" pitchFamily="34" charset="0"/>
                <a:ea typeface="Segoe UI" pitchFamily="34" charset="-122"/>
                <a:cs typeface="Segoe UI" pitchFamily="34" charset="-120"/>
              </a:rPr>
              <a:t>Membongkar rahasia pembuatan soal CAT oleh Tim Konsorsium Perguruan Tinggi Negeri</a:t>
            </a:r>
            <a:endParaRPr lang="en-US" sz="1200" dirty="0"/>
          </a:p>
        </p:txBody>
      </p:sp>
      <p:sp>
        <p:nvSpPr>
          <p:cNvPr id="6" name="Shape 4"/>
          <p:cNvSpPr/>
          <p:nvPr/>
        </p:nvSpPr>
        <p:spPr>
          <a:xfrm>
            <a:off x="731520" y="1691640"/>
            <a:ext cx="5212080" cy="4389120"/>
          </a:xfrm>
          <a:prstGeom prst="roundRect">
            <a:avLst>
              <a:gd name="adj" fmla="val 2500"/>
            </a:avLst>
          </a:prstGeom>
          <a:solidFill>
            <a:srgbClr val="FFFFFF"/>
          </a:solidFill>
          <a:ln w="19050">
            <a:solidFill>
              <a:srgbClr val="E2E8F0"/>
            </a:solidFill>
            <a:prstDash val="solid"/>
          </a:ln>
        </p:spPr>
      </p:sp>
      <p:sp>
        <p:nvSpPr>
          <p:cNvPr id="7" name="Text 5"/>
          <p:cNvSpPr/>
          <p:nvPr/>
        </p:nvSpPr>
        <p:spPr>
          <a:xfrm>
            <a:off x="1005840" y="1920240"/>
            <a:ext cx="4663440" cy="320040"/>
          </a:xfrm>
          <a:prstGeom prst="rect">
            <a:avLst/>
          </a:prstGeom>
          <a:noFill/>
          <a:ln/>
        </p:spPr>
        <p:txBody>
          <a:bodyPr wrap="square" rtlCol="0" anchor="ctr"/>
          <a:lstStyle/>
          <a:p>
            <a:pPr indent="0" marL="0">
              <a:buNone/>
            </a:pPr>
            <a:r>
              <a:rPr lang="en-US" sz="1200" b="1" dirty="0">
                <a:solidFill>
                  <a:srgbClr val="2563EB"/>
                </a:solidFill>
                <a:latin typeface="Segoe UI" pitchFamily="34" charset="0"/>
                <a:ea typeface="Segoe UI" pitchFamily="34" charset="-122"/>
                <a:cs typeface="Segoe UI" pitchFamily="34" charset="-120"/>
              </a:rPr>
              <a:t>DOKTRIN PSIKOMETRI CAT BKN</a:t>
            </a:r>
            <a:endParaRPr lang="en-US" sz="1200" dirty="0"/>
          </a:p>
        </p:txBody>
      </p:sp>
      <p:sp>
        <p:nvSpPr>
          <p:cNvPr id="8" name="Text 6"/>
          <p:cNvSpPr/>
          <p:nvPr/>
        </p:nvSpPr>
        <p:spPr>
          <a:xfrm>
            <a:off x="1005840" y="2331720"/>
            <a:ext cx="4663440" cy="347472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1. MENGUKUR 'GENERAL MENTAL ABILITY' (GMA)</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Peraturan BKN No. 5 Tahun 2024 menegaskan bahwa CAT mengukur daya adaptasi kognitif umum dalam menyelesaikan masalah baru, bukan mengukur daya tampung hafalan rumus.</a:t>
            </a:r>
            <a:endParaRPr lang="en-US" sz="1100" dirty="0"/>
          </a:p>
          <a:p>
            <a:pPr indent="0" marL="0">
              <a:buNone/>
            </a:pP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2. ELIMINASI CELAH TRIK DANGKAL (Anti-Gimmick Design)</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Panselnas secara sadar merancang soal dengan 'variabel pengecoh'. Peserta yang hanya hafal trik bimbel tanpa paham nalar akan langsung diarahkan ke opsi jawaban yang salah (distractor).</a:t>
            </a:r>
            <a:endParaRPr lang="en-US" sz="1100" dirty="0"/>
          </a:p>
          <a:p>
            <a:pPr indent="0" marL="0">
              <a:buNone/>
            </a:pP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3. TINGKAT KOGNITIF C3 – C4 (BLOOM'S TAXONOMY)</a:t>
            </a:r>
            <a:endParaRPr lang="en-US" sz="1100" dirty="0"/>
          </a:p>
          <a:p>
            <a:pPr indent="0" marL="0">
              <a:buNone/>
            </a:pPr>
            <a:r>
              <a:rPr lang="en-US" sz="1100" dirty="0">
                <a:solidFill>
                  <a:srgbClr val="0F172A"/>
                </a:solidFill>
                <a:latin typeface="Segoe UI" pitchFamily="34" charset="0"/>
                <a:ea typeface="Segoe UI" pitchFamily="34" charset="-122"/>
                <a:cs typeface="Segoe UI" pitchFamily="34" charset="-120"/>
              </a:rPr>
              <a:t>   Standar PermenPANRB 27/2021 Pasal 35 menuntut 'Kemampuan Mengimplementasikan dan Menganalisis', bukan 'Menghafal Formula'.</a:t>
            </a:r>
            <a:endParaRPr lang="en-US" sz="1100" dirty="0"/>
          </a:p>
        </p:txBody>
      </p:sp>
      <p:sp>
        <p:nvSpPr>
          <p:cNvPr id="9" name="Shape 7"/>
          <p:cNvSpPr/>
          <p:nvPr/>
        </p:nvSpPr>
        <p:spPr>
          <a:xfrm>
            <a:off x="6217920" y="1691640"/>
            <a:ext cx="5212080" cy="4389120"/>
          </a:xfrm>
          <a:prstGeom prst="roundRect">
            <a:avLst>
              <a:gd name="adj" fmla="val 2500"/>
            </a:avLst>
          </a:prstGeom>
          <a:solidFill>
            <a:srgbClr val="FFFFFF"/>
          </a:solidFill>
          <a:ln w="19050">
            <a:solidFill>
              <a:srgbClr val="E2E8F0"/>
            </a:solidFill>
            <a:prstDash val="solid"/>
          </a:ln>
        </p:spPr>
      </p:sp>
      <p:sp>
        <p:nvSpPr>
          <p:cNvPr id="10" name="Text 8"/>
          <p:cNvSpPr/>
          <p:nvPr/>
        </p:nvSpPr>
        <p:spPr>
          <a:xfrm>
            <a:off x="6492240" y="1920240"/>
            <a:ext cx="4663440" cy="320040"/>
          </a:xfrm>
          <a:prstGeom prst="rect">
            <a:avLst/>
          </a:prstGeom>
          <a:noFill/>
          <a:ln/>
        </p:spPr>
        <p:txBody>
          <a:bodyPr wrap="square" rtlCol="0" anchor="ctr"/>
          <a:lstStyle/>
          <a:p>
            <a:pPr indent="0" marL="0">
              <a:buNone/>
            </a:pPr>
            <a:r>
              <a:rPr lang="en-US" sz="1200" b="1" dirty="0">
                <a:solidFill>
                  <a:srgbClr val="E11D48"/>
                </a:solidFill>
                <a:latin typeface="Segoe UI" pitchFamily="34" charset="0"/>
                <a:ea typeface="Segoe UI" pitchFamily="34" charset="-122"/>
                <a:cs typeface="Segoe UI" pitchFamily="34" charset="-120"/>
              </a:rPr>
              <a:t>ANATOMI KEGAGALAN PESERTA UMUM</a:t>
            </a:r>
            <a:endParaRPr lang="en-US" sz="1200" dirty="0"/>
          </a:p>
        </p:txBody>
      </p:sp>
      <p:sp>
        <p:nvSpPr>
          <p:cNvPr id="11" name="Text 9"/>
          <p:cNvSpPr/>
          <p:nvPr/>
        </p:nvSpPr>
        <p:spPr>
          <a:xfrm>
            <a:off x="6492240" y="2331720"/>
            <a:ext cx="4663440" cy="347472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Terjebak 'Canduan' Rumus Cepat:</a:t>
            </a: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Menghafal puluhan rumus cepat dari media sosial. Saat di ujian BKN membalik sedikit struktur soalnya, rumus tersebut menjadi bumerang.</a:t>
            </a:r>
            <a:endParaRPr lang="en-US" sz="1100" dirty="0"/>
          </a:p>
          <a:p>
            <a:pPr indent="0" marL="0">
              <a:buNone/>
            </a:pP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Panik Saat Menghadapi Bentuk Baru:</a:t>
            </a: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Karena tidak terbiasa bernalar, peserta mengalami 'mental block' ketika melihat tabel atau matriks 9 kotak yang belum pernah dilihat sebelumnya.</a:t>
            </a:r>
            <a:endParaRPr lang="en-US" sz="1100" dirty="0"/>
          </a:p>
          <a:p>
            <a:pPr indent="0" marL="0">
              <a:buNone/>
            </a:pP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Menghitung Kasar Angka Besar:</a:t>
            </a: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Mencakar kertas penuh mengalikan angka ribuan, menghabiskan 3 menit per soal, padahal ada trik aljabar 10 detik.</a:t>
            </a:r>
            <a:endParaRPr lang="en-US" sz="1100" dirty="0"/>
          </a:p>
        </p:txBody>
      </p:sp>
      <p:sp>
        <p:nvSpPr>
          <p:cNvPr id="12" name="Shape 10"/>
          <p:cNvSpPr/>
          <p:nvPr/>
        </p:nvSpPr>
        <p:spPr>
          <a:xfrm>
            <a:off x="731520" y="6309360"/>
            <a:ext cx="10725912" cy="0"/>
          </a:xfrm>
          <a:prstGeom prst="line">
            <a:avLst/>
          </a:prstGeom>
          <a:noFill/>
          <a:ln w="12700">
            <a:solidFill>
              <a:srgbClr val="E2E8F0"/>
            </a:solidFill>
            <a:prstDash val="solid"/>
          </a:ln>
        </p:spPr>
      </p:sp>
      <p:sp>
        <p:nvSpPr>
          <p:cNvPr id="13" name="Text 11"/>
          <p:cNvSpPr/>
          <p:nvPr/>
        </p:nvSpPr>
        <p:spPr>
          <a:xfrm>
            <a:off x="731520" y="6355080"/>
            <a:ext cx="7315200" cy="27432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LESINAJA • Program Persiapan Intensif TIU CPNS 2027</a:t>
            </a:r>
            <a:endParaRPr lang="en-US" sz="900" dirty="0"/>
          </a:p>
        </p:txBody>
      </p:sp>
      <p:sp>
        <p:nvSpPr>
          <p:cNvPr id="14" name="Text 12"/>
          <p:cNvSpPr/>
          <p:nvPr/>
        </p:nvSpPr>
        <p:spPr>
          <a:xfrm>
            <a:off x="9601200" y="6355080"/>
            <a:ext cx="1828800" cy="274320"/>
          </a:xfrm>
          <a:prstGeom prst="rect">
            <a:avLst/>
          </a:prstGeom>
          <a:noFill/>
          <a:ln/>
        </p:spPr>
        <p:txBody>
          <a:bodyPr wrap="square" rtlCol="0" anchor="ctr"/>
          <a:lstStyle/>
          <a:p>
            <a:pPr algn="r" indent="0" marL="0">
              <a:buNone/>
            </a:pPr>
            <a:r>
              <a:rPr lang="en-US" sz="900" dirty="0">
                <a:solidFill>
                  <a:srgbClr val="475569"/>
                </a:solidFill>
                <a:latin typeface="Segoe UI" pitchFamily="34" charset="0"/>
                <a:ea typeface="Segoe UI" pitchFamily="34" charset="-122"/>
                <a:cs typeface="Segoe UI" pitchFamily="34" charset="-120"/>
              </a:rPr>
              <a:t>Slide 7 dari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2563EB"/>
                </a:solidFill>
                <a:latin typeface="Segoe UI" pitchFamily="34" charset="0"/>
                <a:ea typeface="Segoe UI" pitchFamily="34" charset="-122"/>
                <a:cs typeface="Segoe UI" pitchFamily="34" charset="-120"/>
              </a:rPr>
              <a:t>METODOLOGI BELAJAR</a:t>
            </a:r>
            <a:endParaRPr lang="en-US" sz="10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Solusi Tepat: Piramida 3 Tingkat Penguasaan TIU</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475569"/>
                </a:solidFill>
                <a:latin typeface="Segoe UI" pitchFamily="34" charset="0"/>
                <a:ea typeface="Segoe UI" pitchFamily="34" charset="-122"/>
                <a:cs typeface="Segoe UI" pitchFamily="34" charset="-120"/>
              </a:rPr>
              <a:t>Mendudukkan porsi nalar, kepekaan pola, dan trik efisiensi secara proporsional</a:t>
            </a:r>
            <a:endParaRPr lang="en-US" sz="1200" dirty="0"/>
          </a:p>
        </p:txBody>
      </p:sp>
      <p:sp>
        <p:nvSpPr>
          <p:cNvPr id="6" name="Shape 4"/>
          <p:cNvSpPr/>
          <p:nvPr/>
        </p:nvSpPr>
        <p:spPr>
          <a:xfrm>
            <a:off x="1097280" y="4389120"/>
            <a:ext cx="9966960" cy="1554480"/>
          </a:xfrm>
          <a:prstGeom prst="roundRect">
            <a:avLst>
              <a:gd name="adj" fmla="val 5882"/>
            </a:avLst>
          </a:prstGeom>
          <a:solidFill>
            <a:srgbClr val="EFF6FF"/>
          </a:solidFill>
          <a:ln w="25400">
            <a:solidFill>
              <a:srgbClr val="2563EB"/>
            </a:solidFill>
            <a:prstDash val="solid"/>
          </a:ln>
        </p:spPr>
      </p:sp>
      <p:sp>
        <p:nvSpPr>
          <p:cNvPr id="7" name="Text 5"/>
          <p:cNvSpPr/>
          <p:nvPr/>
        </p:nvSpPr>
        <p:spPr>
          <a:xfrm>
            <a:off x="1371600" y="4526280"/>
            <a:ext cx="9418320" cy="320040"/>
          </a:xfrm>
          <a:prstGeom prst="rect">
            <a:avLst/>
          </a:prstGeom>
          <a:noFill/>
          <a:ln/>
        </p:spPr>
        <p:txBody>
          <a:bodyPr wrap="square" rtlCol="0" anchor="ctr"/>
          <a:lstStyle/>
          <a:p>
            <a:pPr indent="0" marL="0">
              <a:buNone/>
            </a:pPr>
            <a:r>
              <a:rPr lang="en-US" sz="1300" b="1" dirty="0">
                <a:solidFill>
                  <a:srgbClr val="1D4ED8"/>
                </a:solidFill>
                <a:latin typeface="Segoe UI" pitchFamily="34" charset="0"/>
                <a:ea typeface="Segoe UI" pitchFamily="34" charset="-122"/>
                <a:cs typeface="Segoe UI" pitchFamily="34" charset="-120"/>
              </a:rPr>
              <a:t>TINGKAT 1 (FONDASI - 50% ENERGI BELAJAR): KONSEP &amp; LOGIKA DASAR</a:t>
            </a:r>
            <a:endParaRPr lang="en-US" sz="1300" dirty="0"/>
          </a:p>
        </p:txBody>
      </p:sp>
      <p:sp>
        <p:nvSpPr>
          <p:cNvPr id="8" name="Text 6"/>
          <p:cNvSpPr/>
          <p:nvPr/>
        </p:nvSpPr>
        <p:spPr>
          <a:xfrm>
            <a:off x="1371600" y="4892040"/>
            <a:ext cx="9418320" cy="82296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Memahami 'MENGAPA' suatu aturan matematika atau logika berlaku. Menguasai hierarki operasi pecahan, sifat dasar aljabar, dan hukum penarikan kesimpulan. Tanpa fondasi ini, Anda tidak akan pernah tahan terhadap variasi soal baru BKN.</a:t>
            </a:r>
            <a:endParaRPr lang="en-US" sz="1100" dirty="0"/>
          </a:p>
        </p:txBody>
      </p:sp>
      <p:sp>
        <p:nvSpPr>
          <p:cNvPr id="9" name="Shape 7"/>
          <p:cNvSpPr/>
          <p:nvPr/>
        </p:nvSpPr>
        <p:spPr>
          <a:xfrm>
            <a:off x="2011680" y="3017520"/>
            <a:ext cx="8138160" cy="1234440"/>
          </a:xfrm>
          <a:prstGeom prst="roundRect">
            <a:avLst>
              <a:gd name="adj" fmla="val 7407"/>
            </a:avLst>
          </a:prstGeom>
          <a:solidFill>
            <a:srgbClr val="D1FAE5"/>
          </a:solidFill>
          <a:ln w="25400">
            <a:solidFill>
              <a:srgbClr val="059669"/>
            </a:solidFill>
            <a:prstDash val="solid"/>
          </a:ln>
        </p:spPr>
      </p:sp>
      <p:sp>
        <p:nvSpPr>
          <p:cNvPr id="10" name="Text 8"/>
          <p:cNvSpPr/>
          <p:nvPr/>
        </p:nvSpPr>
        <p:spPr>
          <a:xfrm>
            <a:off x="2286000" y="3127248"/>
            <a:ext cx="7589520" cy="320040"/>
          </a:xfrm>
          <a:prstGeom prst="rect">
            <a:avLst/>
          </a:prstGeom>
          <a:noFill/>
          <a:ln/>
        </p:spPr>
        <p:txBody>
          <a:bodyPr wrap="square" rtlCol="0" anchor="ctr"/>
          <a:lstStyle/>
          <a:p>
            <a:pPr indent="0" marL="0">
              <a:buNone/>
            </a:pPr>
            <a:r>
              <a:rPr lang="en-US" sz="1200" b="1" dirty="0">
                <a:solidFill>
                  <a:srgbClr val="059669"/>
                </a:solidFill>
                <a:latin typeface="Segoe UI" pitchFamily="34" charset="0"/>
                <a:ea typeface="Segoe UI" pitchFamily="34" charset="-122"/>
                <a:cs typeface="Segoe UI" pitchFamily="34" charset="-120"/>
              </a:rPr>
              <a:t>TINGKAT 2 (DINDING - 30% ENERGI): KEPEKAAN POLA (PATTERN RECOGNITION)</a:t>
            </a:r>
            <a:endParaRPr lang="en-US" sz="1200" dirty="0"/>
          </a:p>
        </p:txBody>
      </p:sp>
      <p:sp>
        <p:nvSpPr>
          <p:cNvPr id="11" name="Text 9"/>
          <p:cNvSpPr/>
          <p:nvPr/>
        </p:nvSpPr>
        <p:spPr>
          <a:xfrm>
            <a:off x="2286000" y="3429000"/>
            <a:ext cx="7589520" cy="68580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Mampu mengidentifikasi dalam 5 detik: apakah ini soal selisih kuadrat, deret bertingkat dua, atau silogisme negasi. Melatih mata dan otak untuk langsung mengenali arsitektur soal.</a:t>
            </a:r>
            <a:endParaRPr lang="en-US" sz="1050" dirty="0"/>
          </a:p>
        </p:txBody>
      </p:sp>
      <p:sp>
        <p:nvSpPr>
          <p:cNvPr id="12" name="Shape 10"/>
          <p:cNvSpPr/>
          <p:nvPr/>
        </p:nvSpPr>
        <p:spPr>
          <a:xfrm>
            <a:off x="3108960" y="1783080"/>
            <a:ext cx="5943600" cy="1097280"/>
          </a:xfrm>
          <a:prstGeom prst="roundRect">
            <a:avLst>
              <a:gd name="adj" fmla="val 8333"/>
            </a:avLst>
          </a:prstGeom>
          <a:solidFill>
            <a:srgbClr val="FEF3C7"/>
          </a:solidFill>
          <a:ln w="25400">
            <a:solidFill>
              <a:srgbClr val="D97706"/>
            </a:solidFill>
            <a:prstDash val="solid"/>
          </a:ln>
        </p:spPr>
      </p:sp>
      <p:sp>
        <p:nvSpPr>
          <p:cNvPr id="13" name="Text 11"/>
          <p:cNvSpPr/>
          <p:nvPr/>
        </p:nvSpPr>
        <p:spPr>
          <a:xfrm>
            <a:off x="3291840" y="1874520"/>
            <a:ext cx="5577840" cy="320040"/>
          </a:xfrm>
          <a:prstGeom prst="rect">
            <a:avLst/>
          </a:prstGeom>
          <a:noFill/>
          <a:ln/>
        </p:spPr>
        <p:txBody>
          <a:bodyPr wrap="square" rtlCol="0" anchor="ctr"/>
          <a:lstStyle/>
          <a:p>
            <a:pPr algn="ctr" indent="0" marL="0">
              <a:buNone/>
            </a:pPr>
            <a:r>
              <a:rPr lang="en-US" sz="1150" b="1" dirty="0">
                <a:solidFill>
                  <a:srgbClr val="D97706"/>
                </a:solidFill>
                <a:latin typeface="Segoe UI" pitchFamily="34" charset="0"/>
                <a:ea typeface="Segoe UI" pitchFamily="34" charset="-122"/>
                <a:cs typeface="Segoe UI" pitchFamily="34" charset="-120"/>
              </a:rPr>
              <a:t>TINGKAT 3 (PUNCAK - 20%): TRIK EFISIENSI &amp; SPEED HACKS</a:t>
            </a:r>
            <a:endParaRPr lang="en-US" sz="1150" dirty="0"/>
          </a:p>
        </p:txBody>
      </p:sp>
      <p:sp>
        <p:nvSpPr>
          <p:cNvPr id="14" name="Text 12"/>
          <p:cNvSpPr/>
          <p:nvPr/>
        </p:nvSpPr>
        <p:spPr>
          <a:xfrm>
            <a:off x="3291840" y="2194560"/>
            <a:ext cx="5577840" cy="594360"/>
          </a:xfrm>
          <a:prstGeom prst="rect">
            <a:avLst/>
          </a:prstGeom>
          <a:noFill/>
          <a:ln/>
        </p:spPr>
        <p:txBody>
          <a:bodyPr wrap="square" rtlCol="0" anchor="ctr"/>
          <a:lstStyle/>
          <a:p>
            <a:pPr algn="ctr" indent="0" marL="0">
              <a:buNone/>
            </a:pPr>
            <a:r>
              <a:rPr lang="en-US" sz="1000" dirty="0">
                <a:solidFill>
                  <a:srgbClr val="0F172A"/>
                </a:solidFill>
                <a:latin typeface="Segoe UI" pitchFamily="34" charset="0"/>
                <a:ea typeface="Segoe UI" pitchFamily="34" charset="-122"/>
                <a:cs typeface="Segoe UI" pitchFamily="34" charset="-120"/>
              </a:rPr>
              <a:t>Penyelesaian super cepat (5-15 detik) menggunakan eliminasi opsi dan angka satuan. Hanya aman dipakai jika Tingkat 1 &amp; 2 sudah dikuasai!</a:t>
            </a:r>
            <a:endParaRPr lang="en-US" sz="1000" dirty="0"/>
          </a:p>
        </p:txBody>
      </p:sp>
      <p:sp>
        <p:nvSpPr>
          <p:cNvPr id="15" name="Shape 13"/>
          <p:cNvSpPr/>
          <p:nvPr/>
        </p:nvSpPr>
        <p:spPr>
          <a:xfrm>
            <a:off x="731520" y="6309360"/>
            <a:ext cx="10725912" cy="0"/>
          </a:xfrm>
          <a:prstGeom prst="line">
            <a:avLst/>
          </a:prstGeom>
          <a:noFill/>
          <a:ln w="12700">
            <a:solidFill>
              <a:srgbClr val="E2E8F0"/>
            </a:solidFill>
            <a:prstDash val="solid"/>
          </a:ln>
        </p:spPr>
      </p:sp>
      <p:sp>
        <p:nvSpPr>
          <p:cNvPr id="16" name="Text 14"/>
          <p:cNvSpPr/>
          <p:nvPr/>
        </p:nvSpPr>
        <p:spPr>
          <a:xfrm>
            <a:off x="731520" y="6355080"/>
            <a:ext cx="7315200" cy="27432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LESINAJA • Program Persiapan Intensif TIU CPNS 2027</a:t>
            </a:r>
            <a:endParaRPr lang="en-US" sz="900" dirty="0"/>
          </a:p>
        </p:txBody>
      </p:sp>
      <p:sp>
        <p:nvSpPr>
          <p:cNvPr id="17" name="Text 15"/>
          <p:cNvSpPr/>
          <p:nvPr/>
        </p:nvSpPr>
        <p:spPr>
          <a:xfrm>
            <a:off x="9601200" y="6355080"/>
            <a:ext cx="1828800" cy="274320"/>
          </a:xfrm>
          <a:prstGeom prst="rect">
            <a:avLst/>
          </a:prstGeom>
          <a:noFill/>
          <a:ln/>
        </p:spPr>
        <p:txBody>
          <a:bodyPr wrap="square" rtlCol="0" anchor="ctr"/>
          <a:lstStyle/>
          <a:p>
            <a:pPr algn="r" indent="0" marL="0">
              <a:buNone/>
            </a:pPr>
            <a:r>
              <a:rPr lang="en-US" sz="900" dirty="0">
                <a:solidFill>
                  <a:srgbClr val="475569"/>
                </a:solidFill>
                <a:latin typeface="Segoe UI" pitchFamily="34" charset="0"/>
                <a:ea typeface="Segoe UI" pitchFamily="34" charset="-122"/>
                <a:cs typeface="Segoe UI" pitchFamily="34" charset="-120"/>
              </a:rPr>
              <a:t>Slide 8 dari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2563EB"/>
                </a:solidFill>
                <a:latin typeface="Segoe UI" pitchFamily="34" charset="0"/>
                <a:ea typeface="Segoe UI" pitchFamily="34" charset="-122"/>
                <a:cs typeface="Segoe UI" pitchFamily="34" charset="-120"/>
              </a:rPr>
              <a:t>FAKTA SEJARAH BKN</a:t>
            </a:r>
            <a:endParaRPr lang="en-US" sz="10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Bukti Sejarah: Kedinasan Selalu Menjadi 'Laboratorium Uji' CPNS</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475569"/>
                </a:solidFill>
                <a:latin typeface="Segoe UI" pitchFamily="34" charset="0"/>
                <a:ea typeface="Segoe UI" pitchFamily="34" charset="-122"/>
                <a:cs typeface="Segoe UI" pitchFamily="34" charset="-120"/>
              </a:rPr>
              <a:t>Pola siklus 6-12 bulan yang membuktikan bahwa soal Kedinasan adalah bocoran resmi CPNS</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10698480" cy="4389120"/>
        </p:xfrm>
        <a:graphic>
          <a:graphicData uri="http://schemas.openxmlformats.org/drawingml/2006/table">
            <a:tbl>
              <a:tblPr/>
              <a:tblGrid>
                <a:gridCol w="1097280"/>
                <a:gridCol w="3474720"/>
                <a:gridCol w="3474720"/>
                <a:gridCol w="2651760"/>
              </a:tblGrid>
              <a:tr h="411480">
                <a:tc>
                  <a:txBody>
                    <a:bodyPr/>
                    <a:lstStyle/>
                    <a:p>
                      <a:pPr indent="0" marL="0">
                        <a:buNone/>
                      </a:pPr>
                      <a:r>
                        <a:rPr lang="en-US" sz="1000" b="1" dirty="0">
                          <a:solidFill>
                            <a:srgbClr val="FFFFFF"/>
                          </a:solidFill>
                          <a:latin typeface="Segoe UI" pitchFamily="34" charset="0"/>
                          <a:ea typeface="Segoe UI" pitchFamily="34" charset="-122"/>
                          <a:cs typeface="Segoe UI" pitchFamily="34" charset="-120"/>
                        </a:rPr>
                        <a:t>Tahun</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latin typeface="Segoe UI" pitchFamily="34" charset="0"/>
                          <a:ea typeface="Segoe UI" pitchFamily="34" charset="-122"/>
                          <a:cs typeface="Segoe UI" pitchFamily="34" charset="-120"/>
                        </a:rPr>
                        <a:t>Yang Terjadi di Kedinasan (Mei - Juli)</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latin typeface="Segoe UI" pitchFamily="34" charset="0"/>
                          <a:ea typeface="Segoe UI" pitchFamily="34" charset="-122"/>
                          <a:cs typeface="Segoe UI" pitchFamily="34" charset="-120"/>
                        </a:rPr>
                        <a:t>Yang Kemudian Terjadi di CPNS (Okt - Des)</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c>
                  <a:txBody>
                    <a:bodyPr/>
                    <a:lstStyle/>
                    <a:p>
                      <a:pPr indent="0" marL="0">
                        <a:buNone/>
                      </a:pPr>
                      <a:r>
                        <a:rPr lang="en-US" sz="1000" b="1" dirty="0">
                          <a:solidFill>
                            <a:srgbClr val="FFFFFF"/>
                          </a:solidFill>
                          <a:latin typeface="Segoe UI" pitchFamily="34" charset="0"/>
                          <a:ea typeface="Segoe UI" pitchFamily="34" charset="-122"/>
                          <a:cs typeface="Segoe UI" pitchFamily="34" charset="-120"/>
                        </a:rPr>
                        <a:t>Dampak Nasional</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1E293B"/>
                    </a:solidFill>
                  </a:tcPr>
                </a:tc>
              </a:tr>
              <a:tr h="868680">
                <a:tc>
                  <a:txBody>
                    <a:bodyPr/>
                    <a:lstStyle/>
                    <a:p>
                      <a:pPr indent="0" marL="0">
                        <a:buNone/>
                      </a:pPr>
                      <a:r>
                        <a:rPr lang="en-US" sz="1000" b="1" dirty="0">
                          <a:solidFill>
                            <a:srgbClr val="2563EB"/>
                          </a:solidFill>
                          <a:latin typeface="Segoe UI" pitchFamily="34" charset="0"/>
                          <a:ea typeface="Segoe UI" pitchFamily="34" charset="-122"/>
                          <a:cs typeface="Segoe UI" pitchFamily="34" charset="-120"/>
                        </a:rPr>
                        <a:t>2018</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Segoe UI" pitchFamily="34" charset="0"/>
                          <a:ea typeface="Segoe UI" pitchFamily="34" charset="-122"/>
                          <a:cs typeface="Segoe UI" pitchFamily="34" charset="-120"/>
                        </a:rPr>
                        <a:t>Pertama kali muncul narasi panjang TKP &amp; soal analisis logika bertingkat.</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Segoe UI" pitchFamily="34" charset="0"/>
                          <a:ea typeface="Segoe UI" pitchFamily="34" charset="-122"/>
                          <a:cs typeface="Segoe UI" pitchFamily="34" charset="-120"/>
                        </a:rPr>
                        <a:t>Pola soal TKP narasi panjang langsung diterapkan penuh di CPNS.</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Segoe UI" pitchFamily="34" charset="0"/>
                          <a:ea typeface="Segoe UI" pitchFamily="34" charset="-122"/>
                          <a:cs typeface="Segoe UI" pitchFamily="34" charset="-120"/>
                        </a:rPr>
                        <a:t>Gugur massal nasional! MenPANRB terbitkan Permen 61/2018 sistem ranking.</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868680">
                <a:tc>
                  <a:txBody>
                    <a:bodyPr/>
                    <a:lstStyle/>
                    <a:p>
                      <a:pPr indent="0" marL="0">
                        <a:buNone/>
                      </a:pPr>
                      <a:r>
                        <a:rPr lang="en-US" sz="1000" b="1" dirty="0">
                          <a:solidFill>
                            <a:srgbClr val="2563EB"/>
                          </a:solidFill>
                          <a:latin typeface="Segoe UI" pitchFamily="34" charset="0"/>
                          <a:ea typeface="Segoe UI" pitchFamily="34" charset="-122"/>
                          <a:cs typeface="Segoe UI" pitchFamily="34" charset="-120"/>
                        </a:rPr>
                        <a:t>2021</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Segoe UI" pitchFamily="34" charset="0"/>
                          <a:ea typeface="Segoe UI" pitchFamily="34" charset="-122"/>
                          <a:cs typeface="Segoe UI" pitchFamily="34" charset="-120"/>
                        </a:rPr>
                        <a:t>Sinonim dan Antonim kamus mendadak hilang dari layar CAT para taruna.</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Segoe UI" pitchFamily="34" charset="0"/>
                          <a:ea typeface="Segoe UI" pitchFamily="34" charset="-122"/>
                          <a:cs typeface="Segoe UI" pitchFamily="34" charset="-120"/>
                        </a:rPr>
                        <a:t>PermenPANRB 27/2021 resmi menghapus materi sinonim/antonim di CPNS.</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Segoe UI" pitchFamily="34" charset="0"/>
                          <a:ea typeface="Segoe UI" pitchFamily="34" charset="-122"/>
                          <a:cs typeface="Segoe UI" pitchFamily="34" charset="-120"/>
                        </a:rPr>
                        <a:t>Peserta yang hanya menghafal kamus kehilangan 20-30 poin berharga.</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868680">
                <a:tc>
                  <a:txBody>
                    <a:bodyPr/>
                    <a:lstStyle/>
                    <a:p>
                      <a:pPr indent="0" marL="0">
                        <a:buNone/>
                      </a:pPr>
                      <a:r>
                        <a:rPr lang="en-US" sz="1000" b="1" dirty="0">
                          <a:solidFill>
                            <a:srgbClr val="2563EB"/>
                          </a:solidFill>
                          <a:latin typeface="Segoe UI" pitchFamily="34" charset="0"/>
                          <a:ea typeface="Segoe UI" pitchFamily="34" charset="-122"/>
                          <a:cs typeface="Segoe UI" pitchFamily="34" charset="-120"/>
                        </a:rPr>
                        <a:t>2024</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Segoe UI" pitchFamily="34" charset="0"/>
                          <a:ea typeface="Segoe UI" pitchFamily="34" charset="-122"/>
                          <a:cs typeface="Segoe UI" pitchFamily="34" charset="-120"/>
                        </a:rPr>
                        <a:t>FR Kedinasan memuat pecahan bersusun, aljabar khusus, &amp; matriks 9 kotak.</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Segoe UI" pitchFamily="34" charset="0"/>
                          <a:ea typeface="Segoe UI" pitchFamily="34" charset="-122"/>
                          <a:cs typeface="Segoe UI" pitchFamily="34" charset="-120"/>
                        </a:rPr>
                        <a:t>FR CPNS 2024 100% didominasi oleh tipe soal yang persis sama dari Kedinasan.</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Segoe UI" pitchFamily="34" charset="0"/>
                          <a:ea typeface="Segoe UI" pitchFamily="34" charset="-122"/>
                          <a:cs typeface="Segoe UI" pitchFamily="34" charset="-120"/>
                        </a:rPr>
                        <a:t>Standar HOTS BKN disahkan secara permanen di seluruh kementerian.</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1005840">
                <a:tc>
                  <a:txBody>
                    <a:bodyPr/>
                    <a:lstStyle/>
                    <a:p>
                      <a:pPr indent="0" marL="0">
                        <a:buNone/>
                      </a:pPr>
                      <a:r>
                        <a:rPr lang="en-US" sz="1000" b="1" dirty="0">
                          <a:solidFill>
                            <a:srgbClr val="E11D48"/>
                          </a:solidFill>
                          <a:latin typeface="Segoe UI" pitchFamily="34" charset="0"/>
                          <a:ea typeface="Segoe UI" pitchFamily="34" charset="-122"/>
                          <a:cs typeface="Segoe UI" pitchFamily="34" charset="-120"/>
                        </a:rPr>
                        <a:t>2026 → 2027</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Segoe UI" pitchFamily="34" charset="0"/>
                          <a:ea typeface="Segoe UI" pitchFamily="34" charset="-122"/>
                          <a:cs typeface="Segoe UI" pitchFamily="34" charset="-120"/>
                        </a:rPr>
                        <a:t>Kedinasan 2026: Penguatan penalaran analitis, data tabel, &amp; spasial kompleks.</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Segoe UI" pitchFamily="34" charset="0"/>
                          <a:ea typeface="Segoe UI" pitchFamily="34" charset="-122"/>
                          <a:cs typeface="Segoe UI" pitchFamily="34" charset="-120"/>
                        </a:rPr>
                        <a:t>CPNS 2027: Dipastikan mengadopsi konstruksi soal dari bank soal yang sama!</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00" dirty="0">
                          <a:solidFill>
                            <a:srgbClr val="000000"/>
                          </a:solidFill>
                          <a:latin typeface="Segoe UI" pitchFamily="34" charset="0"/>
                          <a:ea typeface="Segoe UI" pitchFamily="34" charset="-122"/>
                          <a:cs typeface="Segoe UI" pitchFamily="34" charset="-120"/>
                        </a:rPr>
                        <a:t>Mereka yang belajar dari soal Kedinasan 2026 akan memimpin skor tertinggi.</a:t>
                      </a:r>
                      <a:endParaRPr lang="en-US" sz="100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
        <p:nvSpPr>
          <p:cNvPr id="7" name="Shape 4"/>
          <p:cNvSpPr/>
          <p:nvPr/>
        </p:nvSpPr>
        <p:spPr>
          <a:xfrm>
            <a:off x="731520" y="6309360"/>
            <a:ext cx="10725912" cy="0"/>
          </a:xfrm>
          <a:prstGeom prst="line">
            <a:avLst/>
          </a:prstGeom>
          <a:noFill/>
          <a:ln w="12700">
            <a:solidFill>
              <a:srgbClr val="E2E8F0"/>
            </a:solidFill>
            <a:prstDash val="solid"/>
          </a:ln>
        </p:spPr>
      </p:sp>
      <p:sp>
        <p:nvSpPr>
          <p:cNvPr id="8" name="Text 5"/>
          <p:cNvSpPr/>
          <p:nvPr/>
        </p:nvSpPr>
        <p:spPr>
          <a:xfrm>
            <a:off x="731520" y="6355080"/>
            <a:ext cx="7315200" cy="27432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LESINAJA • Program Persiapan Intensif TIU CPNS 2027</a:t>
            </a:r>
            <a:endParaRPr lang="en-US" sz="900" dirty="0"/>
          </a:p>
        </p:txBody>
      </p:sp>
      <p:sp>
        <p:nvSpPr>
          <p:cNvPr id="9" name="Text 6"/>
          <p:cNvSpPr/>
          <p:nvPr/>
        </p:nvSpPr>
        <p:spPr>
          <a:xfrm>
            <a:off x="9601200" y="6355080"/>
            <a:ext cx="1828800" cy="274320"/>
          </a:xfrm>
          <a:prstGeom prst="rect">
            <a:avLst/>
          </a:prstGeom>
          <a:noFill/>
          <a:ln/>
        </p:spPr>
        <p:txBody>
          <a:bodyPr wrap="square" rtlCol="0" anchor="ctr"/>
          <a:lstStyle/>
          <a:p>
            <a:pPr algn="r" indent="0" marL="0">
              <a:buNone/>
            </a:pPr>
            <a:r>
              <a:rPr lang="en-US" sz="900" dirty="0">
                <a:solidFill>
                  <a:srgbClr val="475569"/>
                </a:solidFill>
                <a:latin typeface="Segoe UI" pitchFamily="34" charset="0"/>
                <a:ea typeface="Segoe UI" pitchFamily="34" charset="-122"/>
                <a:cs typeface="Segoe UI" pitchFamily="34" charset="-120"/>
              </a:rPr>
              <a:t>Slide 9 dari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2563EB"/>
                </a:solidFill>
                <a:latin typeface="Segoe UI" pitchFamily="34" charset="0"/>
                <a:ea typeface="Segoe UI" pitchFamily="34" charset="-122"/>
                <a:cs typeface="Segoe UI" pitchFamily="34" charset="-120"/>
              </a:rPr>
              <a:t>TAKTIK EKSEKUSI CAT</a:t>
            </a:r>
            <a:endParaRPr lang="en-US" sz="10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Manajemen Waktu CAT: Aturan Emas 50 Detik per Soal</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475569"/>
                </a:solidFill>
                <a:latin typeface="Segoe UI" pitchFamily="34" charset="0"/>
                <a:ea typeface="Segoe UI" pitchFamily="34" charset="-122"/>
                <a:cs typeface="Segoe UI" pitchFamily="34" charset="-120"/>
              </a:rPr>
              <a:t>Menyelesaikan 35 butir soal TIU dalam alokasi waktu ideal 30 menit</a:t>
            </a:r>
            <a:endParaRPr lang="en-US" sz="1200" dirty="0"/>
          </a:p>
        </p:txBody>
      </p:sp>
      <p:sp>
        <p:nvSpPr>
          <p:cNvPr id="6" name="Shape 4"/>
          <p:cNvSpPr/>
          <p:nvPr/>
        </p:nvSpPr>
        <p:spPr>
          <a:xfrm>
            <a:off x="731520" y="1691640"/>
            <a:ext cx="6217920" cy="4389120"/>
          </a:xfrm>
          <a:prstGeom prst="roundRect">
            <a:avLst>
              <a:gd name="adj" fmla="val 2500"/>
            </a:avLst>
          </a:prstGeom>
          <a:solidFill>
            <a:srgbClr val="FFFFFF"/>
          </a:solidFill>
          <a:ln w="19050">
            <a:solidFill>
              <a:srgbClr val="E2E8F0"/>
            </a:solidFill>
            <a:prstDash val="solid"/>
          </a:ln>
        </p:spPr>
      </p:sp>
      <p:sp>
        <p:nvSpPr>
          <p:cNvPr id="7" name="Text 5"/>
          <p:cNvSpPr/>
          <p:nvPr/>
        </p:nvSpPr>
        <p:spPr>
          <a:xfrm>
            <a:off x="1005840" y="1920240"/>
            <a:ext cx="5669280" cy="320040"/>
          </a:xfrm>
          <a:prstGeom prst="rect">
            <a:avLst/>
          </a:prstGeom>
          <a:noFill/>
          <a:ln/>
        </p:spPr>
        <p:txBody>
          <a:bodyPr wrap="square" rtlCol="0" anchor="ctr"/>
          <a:lstStyle/>
          <a:p>
            <a:pPr indent="0" marL="0">
              <a:buNone/>
            </a:pPr>
            <a:r>
              <a:rPr lang="en-US" sz="1200" b="1" dirty="0">
                <a:solidFill>
                  <a:srgbClr val="2563EB"/>
                </a:solidFill>
                <a:latin typeface="Segoe UI" pitchFamily="34" charset="0"/>
                <a:ea typeface="Segoe UI" pitchFamily="34" charset="-122"/>
                <a:cs typeface="Segoe UI" pitchFamily="34" charset="-120"/>
              </a:rPr>
              <a:t>STRATEGI 3 PUTARAN (TRIAGE METHOD)</a:t>
            </a:r>
            <a:endParaRPr lang="en-US" sz="1200" dirty="0"/>
          </a:p>
        </p:txBody>
      </p:sp>
      <p:sp>
        <p:nvSpPr>
          <p:cNvPr id="8" name="Shape 6"/>
          <p:cNvSpPr/>
          <p:nvPr/>
        </p:nvSpPr>
        <p:spPr>
          <a:xfrm>
            <a:off x="1005840" y="2331720"/>
            <a:ext cx="5669280" cy="1051560"/>
          </a:xfrm>
          <a:prstGeom prst="roundRect">
            <a:avLst>
              <a:gd name="adj" fmla="val 6957"/>
            </a:avLst>
          </a:prstGeom>
          <a:solidFill>
            <a:srgbClr val="F8FAFC"/>
          </a:solidFill>
          <a:ln w="12700">
            <a:solidFill>
              <a:srgbClr val="E2E8F0"/>
            </a:solidFill>
            <a:prstDash val="solid"/>
          </a:ln>
        </p:spPr>
      </p:sp>
      <p:sp>
        <p:nvSpPr>
          <p:cNvPr id="9" name="Text 7"/>
          <p:cNvSpPr/>
          <p:nvPr/>
        </p:nvSpPr>
        <p:spPr>
          <a:xfrm>
            <a:off x="1143000" y="2423160"/>
            <a:ext cx="5394960" cy="274320"/>
          </a:xfrm>
          <a:prstGeom prst="rect">
            <a:avLst/>
          </a:prstGeom>
          <a:noFill/>
          <a:ln/>
        </p:spPr>
        <p:txBody>
          <a:bodyPr wrap="square" rtlCol="0" anchor="ctr"/>
          <a:lstStyle/>
          <a:p>
            <a:pPr indent="0" marL="0">
              <a:buNone/>
            </a:pPr>
            <a:r>
              <a:rPr lang="en-US" sz="1050" b="1" dirty="0">
                <a:solidFill>
                  <a:srgbClr val="059669"/>
                </a:solidFill>
                <a:latin typeface="Segoe UI" pitchFamily="34" charset="0"/>
                <a:ea typeface="Segoe UI" pitchFamily="34" charset="-122"/>
                <a:cs typeface="Segoe UI" pitchFamily="34" charset="-120"/>
              </a:rPr>
              <a:t>PUTARAN 1 (0 – 12 MENIT): TARGET 15 SOAL CEPAT</a:t>
            </a:r>
            <a:endParaRPr lang="en-US" sz="1050" dirty="0"/>
          </a:p>
        </p:txBody>
      </p:sp>
      <p:sp>
        <p:nvSpPr>
          <p:cNvPr id="10" name="Text 8"/>
          <p:cNvSpPr/>
          <p:nvPr/>
        </p:nvSpPr>
        <p:spPr>
          <a:xfrm>
            <a:off x="1143000" y="2697480"/>
            <a:ext cx="5394960" cy="59436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Selesaikan semua soal Analogi Verbal, Silogisme sederhana, dan Figural pola tunggal. Amankan poin mudah tanpa berpikir panjang.</a:t>
            </a:r>
            <a:endParaRPr lang="en-US" sz="1000" dirty="0"/>
          </a:p>
        </p:txBody>
      </p:sp>
      <p:sp>
        <p:nvSpPr>
          <p:cNvPr id="11" name="Shape 9"/>
          <p:cNvSpPr/>
          <p:nvPr/>
        </p:nvSpPr>
        <p:spPr>
          <a:xfrm>
            <a:off x="1005840" y="3520440"/>
            <a:ext cx="5669280" cy="1051560"/>
          </a:xfrm>
          <a:prstGeom prst="roundRect">
            <a:avLst>
              <a:gd name="adj" fmla="val 6957"/>
            </a:avLst>
          </a:prstGeom>
          <a:solidFill>
            <a:srgbClr val="F8FAFC"/>
          </a:solidFill>
          <a:ln w="12700">
            <a:solidFill>
              <a:srgbClr val="E2E8F0"/>
            </a:solidFill>
            <a:prstDash val="solid"/>
          </a:ln>
        </p:spPr>
      </p:sp>
      <p:sp>
        <p:nvSpPr>
          <p:cNvPr id="12" name="Text 10"/>
          <p:cNvSpPr/>
          <p:nvPr/>
        </p:nvSpPr>
        <p:spPr>
          <a:xfrm>
            <a:off x="1143000" y="3611880"/>
            <a:ext cx="5394960" cy="274320"/>
          </a:xfrm>
          <a:prstGeom prst="rect">
            <a:avLst/>
          </a:prstGeom>
          <a:noFill/>
          <a:ln/>
        </p:spPr>
        <p:txBody>
          <a:bodyPr wrap="square" rtlCol="0" anchor="ctr"/>
          <a:lstStyle/>
          <a:p>
            <a:pPr indent="0" marL="0">
              <a:buNone/>
            </a:pPr>
            <a:r>
              <a:rPr lang="en-US" sz="1050" b="1" dirty="0">
                <a:solidFill>
                  <a:srgbClr val="2563EB"/>
                </a:solidFill>
                <a:latin typeface="Segoe UI" pitchFamily="34" charset="0"/>
                <a:ea typeface="Segoe UI" pitchFamily="34" charset="-122"/>
                <a:cs typeface="Segoe UI" pitchFamily="34" charset="-120"/>
              </a:rPr>
              <a:t>PUTARAN 2 (12 – 24 MENIT): TARGET 12 SOAL HITUNGAN</a:t>
            </a:r>
            <a:endParaRPr lang="en-US" sz="1050" dirty="0"/>
          </a:p>
        </p:txBody>
      </p:sp>
      <p:sp>
        <p:nvSpPr>
          <p:cNvPr id="13" name="Text 11"/>
          <p:cNvSpPr/>
          <p:nvPr/>
        </p:nvSpPr>
        <p:spPr>
          <a:xfrm>
            <a:off x="1143000" y="3886200"/>
            <a:ext cx="5394960" cy="59436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Kerjakan Pecahan Bersusun, Aljabar Khusus, Deret Pola Bertingkat, dan Figural Matriks 9 Kotak. Butuh 40-50 detik per soal.</a:t>
            </a:r>
            <a:endParaRPr lang="en-US" sz="1000" dirty="0"/>
          </a:p>
        </p:txBody>
      </p:sp>
      <p:sp>
        <p:nvSpPr>
          <p:cNvPr id="14" name="Shape 12"/>
          <p:cNvSpPr/>
          <p:nvPr/>
        </p:nvSpPr>
        <p:spPr>
          <a:xfrm>
            <a:off x="1005840" y="4709160"/>
            <a:ext cx="5669280" cy="1051560"/>
          </a:xfrm>
          <a:prstGeom prst="roundRect">
            <a:avLst>
              <a:gd name="adj" fmla="val 6957"/>
            </a:avLst>
          </a:prstGeom>
          <a:solidFill>
            <a:srgbClr val="F8FAFC"/>
          </a:solidFill>
          <a:ln w="12700">
            <a:solidFill>
              <a:srgbClr val="E2E8F0"/>
            </a:solidFill>
            <a:prstDash val="solid"/>
          </a:ln>
        </p:spPr>
      </p:sp>
      <p:sp>
        <p:nvSpPr>
          <p:cNvPr id="15" name="Text 13"/>
          <p:cNvSpPr/>
          <p:nvPr/>
        </p:nvSpPr>
        <p:spPr>
          <a:xfrm>
            <a:off x="1143000" y="4800600"/>
            <a:ext cx="5394960" cy="274320"/>
          </a:xfrm>
          <a:prstGeom prst="rect">
            <a:avLst/>
          </a:prstGeom>
          <a:noFill/>
          <a:ln/>
        </p:spPr>
        <p:txBody>
          <a:bodyPr wrap="square" rtlCol="0" anchor="ctr"/>
          <a:lstStyle/>
          <a:p>
            <a:pPr indent="0" marL="0">
              <a:buNone/>
            </a:pPr>
            <a:r>
              <a:rPr lang="en-US" sz="1050" b="1" dirty="0">
                <a:solidFill>
                  <a:srgbClr val="D97706"/>
                </a:solidFill>
                <a:latin typeface="Segoe UI" pitchFamily="34" charset="0"/>
                <a:ea typeface="Segoe UI" pitchFamily="34" charset="-122"/>
                <a:cs typeface="Segoe UI" pitchFamily="34" charset="-120"/>
              </a:rPr>
              <a:t>PUTARAN 3 (24 – 30 MENIT): TARGET 8 SOAL ANALITIS</a:t>
            </a:r>
            <a:endParaRPr lang="en-US" sz="1050" dirty="0"/>
          </a:p>
        </p:txBody>
      </p:sp>
      <p:sp>
        <p:nvSpPr>
          <p:cNvPr id="16" name="Text 14"/>
          <p:cNvSpPr/>
          <p:nvPr/>
        </p:nvSpPr>
        <p:spPr>
          <a:xfrm>
            <a:off x="1143000" y="5074920"/>
            <a:ext cx="5394960" cy="594360"/>
          </a:xfrm>
          <a:prstGeom prst="rect">
            <a:avLst/>
          </a:prstGeom>
          <a:noFill/>
          <a:ln/>
        </p:spPr>
        <p:txBody>
          <a:bodyPr wrap="square" rtlCol="0" anchor="ctr"/>
          <a:lstStyle/>
          <a:p>
            <a:pPr indent="0" marL="0">
              <a:buNone/>
            </a:pPr>
            <a:r>
              <a:rPr lang="en-US" sz="1000" dirty="0">
                <a:solidFill>
                  <a:srgbClr val="475569"/>
                </a:solidFill>
                <a:latin typeface="Segoe UI" pitchFamily="34" charset="0"/>
                <a:ea typeface="Segoe UI" pitchFamily="34" charset="-122"/>
                <a:cs typeface="Segoe UI" pitchFamily="34" charset="-120"/>
              </a:rPr>
              <a:t>Selesaikan Soal Analitis Posisi (urutan duduk/tugas) dan Soal Cerita Panjang. Jika mentok, gunakan eliminasi opsi cerdas.</a:t>
            </a:r>
            <a:endParaRPr lang="en-US" sz="1000" dirty="0"/>
          </a:p>
        </p:txBody>
      </p:sp>
      <p:sp>
        <p:nvSpPr>
          <p:cNvPr id="17" name="Shape 15"/>
          <p:cNvSpPr/>
          <p:nvPr/>
        </p:nvSpPr>
        <p:spPr>
          <a:xfrm>
            <a:off x="7223760" y="1691640"/>
            <a:ext cx="4206240" cy="4389120"/>
          </a:xfrm>
          <a:prstGeom prst="roundRect">
            <a:avLst>
              <a:gd name="adj" fmla="val 2609"/>
            </a:avLst>
          </a:prstGeom>
          <a:solidFill>
            <a:srgbClr val="FFFFFF"/>
          </a:solidFill>
          <a:ln w="19050">
            <a:solidFill>
              <a:srgbClr val="E2E8F0"/>
            </a:solidFill>
            <a:prstDash val="solid"/>
          </a:ln>
        </p:spPr>
      </p:sp>
      <p:sp>
        <p:nvSpPr>
          <p:cNvPr id="18" name="Text 16"/>
          <p:cNvSpPr/>
          <p:nvPr/>
        </p:nvSpPr>
        <p:spPr>
          <a:xfrm>
            <a:off x="7498080" y="1920240"/>
            <a:ext cx="3657600" cy="320040"/>
          </a:xfrm>
          <a:prstGeom prst="rect">
            <a:avLst/>
          </a:prstGeom>
          <a:noFill/>
          <a:ln/>
        </p:spPr>
        <p:txBody>
          <a:bodyPr wrap="square" rtlCol="0" anchor="ctr"/>
          <a:lstStyle/>
          <a:p>
            <a:pPr indent="0" marL="0">
              <a:buNone/>
            </a:pPr>
            <a:r>
              <a:rPr lang="en-US" sz="1200" b="1" dirty="0">
                <a:solidFill>
                  <a:srgbClr val="E11D48"/>
                </a:solidFill>
                <a:latin typeface="Segoe UI" pitchFamily="34" charset="0"/>
                <a:ea typeface="Segoe UI" pitchFamily="34" charset="-122"/>
                <a:cs typeface="Segoe UI" pitchFamily="34" charset="-120"/>
              </a:rPr>
              <a:t>ATURAN EMAS 'KILL YOUR EGO'</a:t>
            </a:r>
            <a:endParaRPr lang="en-US" sz="1200" dirty="0"/>
          </a:p>
        </p:txBody>
      </p:sp>
      <p:sp>
        <p:nvSpPr>
          <p:cNvPr id="19" name="Text 17"/>
          <p:cNvSpPr/>
          <p:nvPr/>
        </p:nvSpPr>
        <p:spPr>
          <a:xfrm>
            <a:off x="7498080" y="2331720"/>
            <a:ext cx="3657600" cy="3474720"/>
          </a:xfrm>
          <a:prstGeom prst="rect">
            <a:avLst/>
          </a:prstGeom>
          <a:noFill/>
          <a:ln/>
        </p:spPr>
        <p:txBody>
          <a:bodyPr wrap="square" rtlCol="0" anchor="ctr"/>
          <a:lstStyle/>
          <a:p>
            <a:pPr indent="0" marL="0">
              <a:buNone/>
            </a:pPr>
            <a:r>
              <a:rPr lang="en-US" sz="1050" dirty="0">
                <a:solidFill>
                  <a:srgbClr val="0F172A"/>
                </a:solidFill>
                <a:latin typeface="Segoe UI" pitchFamily="34" charset="0"/>
                <a:ea typeface="Segoe UI" pitchFamily="34" charset="-122"/>
                <a:cs typeface="Segoe UI" pitchFamily="34" charset="-120"/>
              </a:rPr>
              <a:t>1. BATAS 45 DETIK:</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Jika dalam 45 detik Anda belum menemukan benang merah cara pengerjaan suatu soal, SEGERA TANDAI RAGU-RAGU DAN LEWATI!</a:t>
            </a:r>
            <a:endParaRPr lang="en-US" sz="1050" dirty="0"/>
          </a:p>
          <a:p>
            <a:pPr indent="0" marL="0">
              <a:buNone/>
            </a:pP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2. SEMUA SOAL BOBOTNYA SAMA (5 POIN):</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Menghitung soal rumit selama 3 menit tetap bernilai 5 poin, sama dengan menjawab soal analogi 10 detik. Jangan korbankan 3 soal mudah demi 1 soal ego!</a:t>
            </a:r>
            <a:endParaRPr lang="en-US" sz="1050" dirty="0"/>
          </a:p>
          <a:p>
            <a:pPr indent="0" marL="0">
              <a:buNone/>
            </a:pP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3. TIDAK ADA NILAI MINUS:</a:t>
            </a:r>
            <a:endParaRPr lang="en-US" sz="1050" dirty="0"/>
          </a:p>
          <a:p>
            <a:pPr indent="0" marL="0">
              <a:buNone/>
            </a:pPr>
            <a:r>
              <a:rPr lang="en-US" sz="1050" dirty="0">
                <a:solidFill>
                  <a:srgbClr val="0F172A"/>
                </a:solidFill>
                <a:latin typeface="Segoe UI" pitchFamily="34" charset="0"/>
                <a:ea typeface="Segoe UI" pitchFamily="34" charset="-122"/>
                <a:cs typeface="Segoe UI" pitchFamily="34" charset="-120"/>
              </a:rPr>
              <a:t>   Di akhir ujian, pastikan tidak ada satu pun dari 35 soal TIU yang kosong.</a:t>
            </a:r>
            <a:endParaRPr lang="en-US" sz="1050" dirty="0"/>
          </a:p>
        </p:txBody>
      </p:sp>
      <p:sp>
        <p:nvSpPr>
          <p:cNvPr id="20" name="Shape 18"/>
          <p:cNvSpPr/>
          <p:nvPr/>
        </p:nvSpPr>
        <p:spPr>
          <a:xfrm>
            <a:off x="731520" y="6309360"/>
            <a:ext cx="10725912" cy="0"/>
          </a:xfrm>
          <a:prstGeom prst="line">
            <a:avLst/>
          </a:prstGeom>
          <a:noFill/>
          <a:ln w="12700">
            <a:solidFill>
              <a:srgbClr val="E2E8F0"/>
            </a:solidFill>
            <a:prstDash val="solid"/>
          </a:ln>
        </p:spPr>
      </p:sp>
      <p:sp>
        <p:nvSpPr>
          <p:cNvPr id="21" name="Text 19"/>
          <p:cNvSpPr/>
          <p:nvPr/>
        </p:nvSpPr>
        <p:spPr>
          <a:xfrm>
            <a:off x="731520" y="6355080"/>
            <a:ext cx="7315200" cy="27432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LESINAJA • Program Persiapan Intensif TIU CPNS 2027</a:t>
            </a:r>
            <a:endParaRPr lang="en-US" sz="900" dirty="0"/>
          </a:p>
        </p:txBody>
      </p:sp>
      <p:sp>
        <p:nvSpPr>
          <p:cNvPr id="22" name="Text 20"/>
          <p:cNvSpPr/>
          <p:nvPr/>
        </p:nvSpPr>
        <p:spPr>
          <a:xfrm>
            <a:off x="9601200" y="6355080"/>
            <a:ext cx="1828800" cy="274320"/>
          </a:xfrm>
          <a:prstGeom prst="rect">
            <a:avLst/>
          </a:prstGeom>
          <a:noFill/>
          <a:ln/>
        </p:spPr>
        <p:txBody>
          <a:bodyPr wrap="square" rtlCol="0" anchor="ctr"/>
          <a:lstStyle/>
          <a:p>
            <a:pPr algn="r" indent="0" marL="0">
              <a:buNone/>
            </a:pPr>
            <a:r>
              <a:rPr lang="en-US" sz="900" dirty="0">
                <a:solidFill>
                  <a:srgbClr val="475569"/>
                </a:solidFill>
                <a:latin typeface="Segoe UI" pitchFamily="34" charset="0"/>
                <a:ea typeface="Segoe UI" pitchFamily="34" charset="-122"/>
                <a:cs typeface="Segoe UI" pitchFamily="34" charset="-120"/>
              </a:rPr>
              <a:t>Slide 10 dari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2563EB"/>
                </a:solidFill>
                <a:latin typeface="Segoe UI" pitchFamily="34" charset="0"/>
                <a:ea typeface="Segoe UI" pitchFamily="34" charset="-122"/>
                <a:cs typeface="Segoe UI" pitchFamily="34" charset="-120"/>
              </a:rPr>
              <a:t>KURIKULUM 15 PERTEMUAN</a:t>
            </a:r>
            <a:endParaRPr lang="en-US" sz="10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Fase 1: Rekonstruksi Fondasi &amp; Nalar Inti (Sesi 1 – 5)</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475569"/>
                </a:solidFill>
                <a:latin typeface="Segoe UI" pitchFamily="34" charset="0"/>
                <a:ea typeface="Segoe UI" pitchFamily="34" charset="-122"/>
                <a:cs typeface="Segoe UI" pitchFamily="34" charset="-120"/>
              </a:rPr>
              <a:t>Membangun kembali fondasi aljabar, hierarki pecahan, dan logika formal</a:t>
            </a:r>
            <a:endParaRPr lang="en-US" sz="1200" dirty="0"/>
          </a:p>
        </p:txBody>
      </p:sp>
      <p:sp>
        <p:nvSpPr>
          <p:cNvPr id="6" name="Shape 4"/>
          <p:cNvSpPr/>
          <p:nvPr/>
        </p:nvSpPr>
        <p:spPr>
          <a:xfrm>
            <a:off x="731520" y="1691640"/>
            <a:ext cx="10698480" cy="749808"/>
          </a:xfrm>
          <a:prstGeom prst="roundRect">
            <a:avLst>
              <a:gd name="adj" fmla="val 9756"/>
            </a:avLst>
          </a:prstGeom>
          <a:solidFill>
            <a:srgbClr val="FFFFFF"/>
          </a:solidFill>
          <a:ln w="12700">
            <a:solidFill>
              <a:srgbClr val="E2E8F0"/>
            </a:solidFill>
            <a:prstDash val="solid"/>
          </a:ln>
        </p:spPr>
      </p:sp>
      <p:sp>
        <p:nvSpPr>
          <p:cNvPr id="7" name="Shape 5"/>
          <p:cNvSpPr/>
          <p:nvPr/>
        </p:nvSpPr>
        <p:spPr>
          <a:xfrm>
            <a:off x="914400" y="1837944"/>
            <a:ext cx="1005840" cy="457200"/>
          </a:xfrm>
          <a:prstGeom prst="roundRect">
            <a:avLst>
              <a:gd name="adj" fmla="val 12000"/>
            </a:avLst>
          </a:prstGeom>
          <a:solidFill>
            <a:srgbClr val="EFF6FF"/>
          </a:solidFill>
          <a:ln w="12700">
            <a:solidFill>
              <a:srgbClr val="2563EB"/>
            </a:solidFill>
            <a:prstDash val="solid"/>
          </a:ln>
        </p:spPr>
      </p:sp>
      <p:sp>
        <p:nvSpPr>
          <p:cNvPr id="8" name="Text 6"/>
          <p:cNvSpPr/>
          <p:nvPr/>
        </p:nvSpPr>
        <p:spPr>
          <a:xfrm>
            <a:off x="914400" y="1892808"/>
            <a:ext cx="1005840" cy="365760"/>
          </a:xfrm>
          <a:prstGeom prst="rect">
            <a:avLst/>
          </a:prstGeom>
          <a:noFill/>
          <a:ln/>
        </p:spPr>
        <p:txBody>
          <a:bodyPr wrap="square" rtlCol="0" anchor="ctr"/>
          <a:lstStyle/>
          <a:p>
            <a:pPr algn="ctr" indent="0" marL="0">
              <a:buNone/>
            </a:pPr>
            <a:r>
              <a:rPr lang="en-US" sz="1100" b="1" dirty="0">
                <a:solidFill>
                  <a:srgbClr val="2563EB"/>
                </a:solidFill>
                <a:latin typeface="Segoe UI" pitchFamily="34" charset="0"/>
                <a:ea typeface="Segoe UI" pitchFamily="34" charset="-122"/>
                <a:cs typeface="Segoe UI" pitchFamily="34" charset="-120"/>
              </a:rPr>
              <a:t>Sesi 1</a:t>
            </a:r>
            <a:endParaRPr lang="en-US" sz="1100" dirty="0"/>
          </a:p>
        </p:txBody>
      </p:sp>
      <p:sp>
        <p:nvSpPr>
          <p:cNvPr id="9" name="Text 7"/>
          <p:cNvSpPr/>
          <p:nvPr/>
        </p:nvSpPr>
        <p:spPr>
          <a:xfrm>
            <a:off x="2103120" y="1801368"/>
            <a:ext cx="4389120" cy="292608"/>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Orientasi &amp; Diagnosis Kognitif Awal</a:t>
            </a:r>
            <a:endParaRPr lang="en-US" sz="1200" dirty="0"/>
          </a:p>
        </p:txBody>
      </p:sp>
      <p:sp>
        <p:nvSpPr>
          <p:cNvPr id="10" name="Text 8"/>
          <p:cNvSpPr/>
          <p:nvPr/>
        </p:nvSpPr>
        <p:spPr>
          <a:xfrm>
            <a:off x="2103120" y="2075688"/>
            <a:ext cx="8046720" cy="320040"/>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Bedah Mindset CAT BKN, rilis FR Kedinasan 2026, bedah silabus 15 sesi, dan pelaksanaan Pre-Test Mini TIU New CASN di platform Lesinaja.</a:t>
            </a:r>
            <a:endParaRPr lang="en-US" sz="950" dirty="0"/>
          </a:p>
        </p:txBody>
      </p:sp>
      <p:sp>
        <p:nvSpPr>
          <p:cNvPr id="11" name="Shape 9"/>
          <p:cNvSpPr/>
          <p:nvPr/>
        </p:nvSpPr>
        <p:spPr>
          <a:xfrm>
            <a:off x="10241280" y="1892808"/>
            <a:ext cx="1005840" cy="347472"/>
          </a:xfrm>
          <a:prstGeom prst="roundRect">
            <a:avLst>
              <a:gd name="adj" fmla="val 15789"/>
            </a:avLst>
          </a:prstGeom>
          <a:solidFill>
            <a:srgbClr val="F8FAFC"/>
          </a:solidFill>
          <a:ln w="12700">
            <a:solidFill>
              <a:srgbClr val="E2E8F0"/>
            </a:solidFill>
            <a:prstDash val="solid"/>
          </a:ln>
        </p:spPr>
      </p:sp>
      <p:sp>
        <p:nvSpPr>
          <p:cNvPr id="12" name="Text 10"/>
          <p:cNvSpPr/>
          <p:nvPr/>
        </p:nvSpPr>
        <p:spPr>
          <a:xfrm>
            <a:off x="10241280" y="1947672"/>
            <a:ext cx="1005840" cy="27432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Orientasi</a:t>
            </a:r>
            <a:endParaRPr lang="en-US" sz="950" dirty="0"/>
          </a:p>
        </p:txBody>
      </p:sp>
      <p:sp>
        <p:nvSpPr>
          <p:cNvPr id="13" name="Shape 11"/>
          <p:cNvSpPr/>
          <p:nvPr/>
        </p:nvSpPr>
        <p:spPr>
          <a:xfrm>
            <a:off x="731520" y="2560320"/>
            <a:ext cx="10698480" cy="749808"/>
          </a:xfrm>
          <a:prstGeom prst="roundRect">
            <a:avLst>
              <a:gd name="adj" fmla="val 9756"/>
            </a:avLst>
          </a:prstGeom>
          <a:solidFill>
            <a:srgbClr val="FFFFFF"/>
          </a:solidFill>
          <a:ln w="12700">
            <a:solidFill>
              <a:srgbClr val="E2E8F0"/>
            </a:solidFill>
            <a:prstDash val="solid"/>
          </a:ln>
        </p:spPr>
      </p:sp>
      <p:sp>
        <p:nvSpPr>
          <p:cNvPr id="14" name="Shape 12"/>
          <p:cNvSpPr/>
          <p:nvPr/>
        </p:nvSpPr>
        <p:spPr>
          <a:xfrm>
            <a:off x="914400" y="2706624"/>
            <a:ext cx="1005840" cy="457200"/>
          </a:xfrm>
          <a:prstGeom prst="roundRect">
            <a:avLst>
              <a:gd name="adj" fmla="val 12000"/>
            </a:avLst>
          </a:prstGeom>
          <a:solidFill>
            <a:srgbClr val="EFF6FF"/>
          </a:solidFill>
          <a:ln w="12700">
            <a:solidFill>
              <a:srgbClr val="2563EB"/>
            </a:solidFill>
            <a:prstDash val="solid"/>
          </a:ln>
        </p:spPr>
      </p:sp>
      <p:sp>
        <p:nvSpPr>
          <p:cNvPr id="15" name="Text 13"/>
          <p:cNvSpPr/>
          <p:nvPr/>
        </p:nvSpPr>
        <p:spPr>
          <a:xfrm>
            <a:off x="914400" y="2761488"/>
            <a:ext cx="1005840" cy="365760"/>
          </a:xfrm>
          <a:prstGeom prst="rect">
            <a:avLst/>
          </a:prstGeom>
          <a:noFill/>
          <a:ln/>
        </p:spPr>
        <p:txBody>
          <a:bodyPr wrap="square" rtlCol="0" anchor="ctr"/>
          <a:lstStyle/>
          <a:p>
            <a:pPr algn="ctr" indent="0" marL="0">
              <a:buNone/>
            </a:pPr>
            <a:r>
              <a:rPr lang="en-US" sz="1100" b="1" dirty="0">
                <a:solidFill>
                  <a:srgbClr val="2563EB"/>
                </a:solidFill>
                <a:latin typeface="Segoe UI" pitchFamily="34" charset="0"/>
                <a:ea typeface="Segoe UI" pitchFamily="34" charset="-122"/>
                <a:cs typeface="Segoe UI" pitchFamily="34" charset="-120"/>
              </a:rPr>
              <a:t>Sesi 2</a:t>
            </a:r>
            <a:endParaRPr lang="en-US" sz="1100" dirty="0"/>
          </a:p>
        </p:txBody>
      </p:sp>
      <p:sp>
        <p:nvSpPr>
          <p:cNvPr id="16" name="Text 14"/>
          <p:cNvSpPr/>
          <p:nvPr/>
        </p:nvSpPr>
        <p:spPr>
          <a:xfrm>
            <a:off x="2103120" y="2670048"/>
            <a:ext cx="4389120" cy="292608"/>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Verbal Nalar 1: Analogi 3 Konsep &amp; Asosiasi</a:t>
            </a:r>
            <a:endParaRPr lang="en-US" sz="1200" dirty="0"/>
          </a:p>
        </p:txBody>
      </p:sp>
      <p:sp>
        <p:nvSpPr>
          <p:cNvPr id="17" name="Text 15"/>
          <p:cNvSpPr/>
          <p:nvPr/>
        </p:nvSpPr>
        <p:spPr>
          <a:xfrm>
            <a:off x="2103120" y="2944368"/>
            <a:ext cx="8046720" cy="320040"/>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Membongkar pola analogi bertingkat (Input → Proses → Output), hubungan sebab-akibat multi-arah, dan teknik eliminasi distraktor kata.</a:t>
            </a:r>
            <a:endParaRPr lang="en-US" sz="950" dirty="0"/>
          </a:p>
        </p:txBody>
      </p:sp>
      <p:sp>
        <p:nvSpPr>
          <p:cNvPr id="18" name="Shape 16"/>
          <p:cNvSpPr/>
          <p:nvPr/>
        </p:nvSpPr>
        <p:spPr>
          <a:xfrm>
            <a:off x="10241280" y="2761488"/>
            <a:ext cx="1005840" cy="347472"/>
          </a:xfrm>
          <a:prstGeom prst="roundRect">
            <a:avLst>
              <a:gd name="adj" fmla="val 15789"/>
            </a:avLst>
          </a:prstGeom>
          <a:solidFill>
            <a:srgbClr val="F8FAFC"/>
          </a:solidFill>
          <a:ln w="12700">
            <a:solidFill>
              <a:srgbClr val="E2E8F0"/>
            </a:solidFill>
            <a:prstDash val="solid"/>
          </a:ln>
        </p:spPr>
      </p:sp>
      <p:sp>
        <p:nvSpPr>
          <p:cNvPr id="19" name="Text 17"/>
          <p:cNvSpPr/>
          <p:nvPr/>
        </p:nvSpPr>
        <p:spPr>
          <a:xfrm>
            <a:off x="10241280" y="2816352"/>
            <a:ext cx="1005840" cy="27432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Verbal</a:t>
            </a:r>
            <a:endParaRPr lang="en-US" sz="950" dirty="0"/>
          </a:p>
        </p:txBody>
      </p:sp>
      <p:sp>
        <p:nvSpPr>
          <p:cNvPr id="20" name="Shape 18"/>
          <p:cNvSpPr/>
          <p:nvPr/>
        </p:nvSpPr>
        <p:spPr>
          <a:xfrm>
            <a:off x="731520" y="3429000"/>
            <a:ext cx="10698480" cy="749808"/>
          </a:xfrm>
          <a:prstGeom prst="roundRect">
            <a:avLst>
              <a:gd name="adj" fmla="val 9756"/>
            </a:avLst>
          </a:prstGeom>
          <a:solidFill>
            <a:srgbClr val="FFFFFF"/>
          </a:solidFill>
          <a:ln w="12700">
            <a:solidFill>
              <a:srgbClr val="E2E8F0"/>
            </a:solidFill>
            <a:prstDash val="solid"/>
          </a:ln>
        </p:spPr>
      </p:sp>
      <p:sp>
        <p:nvSpPr>
          <p:cNvPr id="21" name="Shape 19"/>
          <p:cNvSpPr/>
          <p:nvPr/>
        </p:nvSpPr>
        <p:spPr>
          <a:xfrm>
            <a:off x="914400" y="3575304"/>
            <a:ext cx="1005840" cy="457200"/>
          </a:xfrm>
          <a:prstGeom prst="roundRect">
            <a:avLst>
              <a:gd name="adj" fmla="val 12000"/>
            </a:avLst>
          </a:prstGeom>
          <a:solidFill>
            <a:srgbClr val="EFF6FF"/>
          </a:solidFill>
          <a:ln w="12700">
            <a:solidFill>
              <a:srgbClr val="2563EB"/>
            </a:solidFill>
            <a:prstDash val="solid"/>
          </a:ln>
        </p:spPr>
      </p:sp>
      <p:sp>
        <p:nvSpPr>
          <p:cNvPr id="22" name="Text 20"/>
          <p:cNvSpPr/>
          <p:nvPr/>
        </p:nvSpPr>
        <p:spPr>
          <a:xfrm>
            <a:off x="914400" y="3630168"/>
            <a:ext cx="1005840" cy="365760"/>
          </a:xfrm>
          <a:prstGeom prst="rect">
            <a:avLst/>
          </a:prstGeom>
          <a:noFill/>
          <a:ln/>
        </p:spPr>
        <p:txBody>
          <a:bodyPr wrap="square" rtlCol="0" anchor="ctr"/>
          <a:lstStyle/>
          <a:p>
            <a:pPr algn="ctr" indent="0" marL="0">
              <a:buNone/>
            </a:pPr>
            <a:r>
              <a:rPr lang="en-US" sz="1100" b="1" dirty="0">
                <a:solidFill>
                  <a:srgbClr val="2563EB"/>
                </a:solidFill>
                <a:latin typeface="Segoe UI" pitchFamily="34" charset="0"/>
                <a:ea typeface="Segoe UI" pitchFamily="34" charset="-122"/>
                <a:cs typeface="Segoe UI" pitchFamily="34" charset="-120"/>
              </a:rPr>
              <a:t>Sesi 3</a:t>
            </a:r>
            <a:endParaRPr lang="en-US" sz="1100" dirty="0"/>
          </a:p>
        </p:txBody>
      </p:sp>
      <p:sp>
        <p:nvSpPr>
          <p:cNvPr id="23" name="Text 21"/>
          <p:cNvSpPr/>
          <p:nvPr/>
        </p:nvSpPr>
        <p:spPr>
          <a:xfrm>
            <a:off x="2103120" y="3538728"/>
            <a:ext cx="4389120" cy="292608"/>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Verbal Nalar 2: Silogisme Negasi &amp; Kontraposisi</a:t>
            </a:r>
            <a:endParaRPr lang="en-US" sz="1200" dirty="0"/>
          </a:p>
        </p:txBody>
      </p:sp>
      <p:sp>
        <p:nvSpPr>
          <p:cNvPr id="24" name="Text 22"/>
          <p:cNvSpPr/>
          <p:nvPr/>
        </p:nvSpPr>
        <p:spPr>
          <a:xfrm>
            <a:off x="2103120" y="3813048"/>
            <a:ext cx="8046720" cy="320040"/>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Kaidah Modus Ponens, Tollens, Silogisme Disjungtif, hukum negasi (~Q → ~P), dan membedakan kata 'semua/beberapa' secara presisi.</a:t>
            </a:r>
            <a:endParaRPr lang="en-US" sz="950" dirty="0"/>
          </a:p>
        </p:txBody>
      </p:sp>
      <p:sp>
        <p:nvSpPr>
          <p:cNvPr id="25" name="Shape 23"/>
          <p:cNvSpPr/>
          <p:nvPr/>
        </p:nvSpPr>
        <p:spPr>
          <a:xfrm>
            <a:off x="10241280" y="3630168"/>
            <a:ext cx="1005840" cy="347472"/>
          </a:xfrm>
          <a:prstGeom prst="roundRect">
            <a:avLst>
              <a:gd name="adj" fmla="val 15789"/>
            </a:avLst>
          </a:prstGeom>
          <a:solidFill>
            <a:srgbClr val="F8FAFC"/>
          </a:solidFill>
          <a:ln w="12700">
            <a:solidFill>
              <a:srgbClr val="E2E8F0"/>
            </a:solidFill>
            <a:prstDash val="solid"/>
          </a:ln>
        </p:spPr>
      </p:sp>
      <p:sp>
        <p:nvSpPr>
          <p:cNvPr id="26" name="Text 24"/>
          <p:cNvSpPr/>
          <p:nvPr/>
        </p:nvSpPr>
        <p:spPr>
          <a:xfrm>
            <a:off x="10241280" y="3685032"/>
            <a:ext cx="1005840" cy="27432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Logika</a:t>
            </a:r>
            <a:endParaRPr lang="en-US" sz="950" dirty="0"/>
          </a:p>
        </p:txBody>
      </p:sp>
      <p:sp>
        <p:nvSpPr>
          <p:cNvPr id="27" name="Shape 25"/>
          <p:cNvSpPr/>
          <p:nvPr/>
        </p:nvSpPr>
        <p:spPr>
          <a:xfrm>
            <a:off x="731520" y="4297680"/>
            <a:ext cx="10698480" cy="749808"/>
          </a:xfrm>
          <a:prstGeom prst="roundRect">
            <a:avLst>
              <a:gd name="adj" fmla="val 9756"/>
            </a:avLst>
          </a:prstGeom>
          <a:solidFill>
            <a:srgbClr val="FFFFFF"/>
          </a:solidFill>
          <a:ln w="12700">
            <a:solidFill>
              <a:srgbClr val="E2E8F0"/>
            </a:solidFill>
            <a:prstDash val="solid"/>
          </a:ln>
        </p:spPr>
      </p:sp>
      <p:sp>
        <p:nvSpPr>
          <p:cNvPr id="28" name="Shape 26"/>
          <p:cNvSpPr/>
          <p:nvPr/>
        </p:nvSpPr>
        <p:spPr>
          <a:xfrm>
            <a:off x="914400" y="4443984"/>
            <a:ext cx="1005840" cy="457200"/>
          </a:xfrm>
          <a:prstGeom prst="roundRect">
            <a:avLst>
              <a:gd name="adj" fmla="val 12000"/>
            </a:avLst>
          </a:prstGeom>
          <a:solidFill>
            <a:srgbClr val="EFF6FF"/>
          </a:solidFill>
          <a:ln w="12700">
            <a:solidFill>
              <a:srgbClr val="2563EB"/>
            </a:solidFill>
            <a:prstDash val="solid"/>
          </a:ln>
        </p:spPr>
      </p:sp>
      <p:sp>
        <p:nvSpPr>
          <p:cNvPr id="29" name="Text 27"/>
          <p:cNvSpPr/>
          <p:nvPr/>
        </p:nvSpPr>
        <p:spPr>
          <a:xfrm>
            <a:off x="914400" y="4498848"/>
            <a:ext cx="1005840" cy="365760"/>
          </a:xfrm>
          <a:prstGeom prst="rect">
            <a:avLst/>
          </a:prstGeom>
          <a:noFill/>
          <a:ln/>
        </p:spPr>
        <p:txBody>
          <a:bodyPr wrap="square" rtlCol="0" anchor="ctr"/>
          <a:lstStyle/>
          <a:p>
            <a:pPr algn="ctr" indent="0" marL="0">
              <a:buNone/>
            </a:pPr>
            <a:r>
              <a:rPr lang="en-US" sz="1100" b="1" dirty="0">
                <a:solidFill>
                  <a:srgbClr val="2563EB"/>
                </a:solidFill>
                <a:latin typeface="Segoe UI" pitchFamily="34" charset="0"/>
                <a:ea typeface="Segoe UI" pitchFamily="34" charset="-122"/>
                <a:cs typeface="Segoe UI" pitchFamily="34" charset="-120"/>
              </a:rPr>
              <a:t>Sesi 4</a:t>
            </a:r>
            <a:endParaRPr lang="en-US" sz="1100" dirty="0"/>
          </a:p>
        </p:txBody>
      </p:sp>
      <p:sp>
        <p:nvSpPr>
          <p:cNvPr id="30" name="Text 28"/>
          <p:cNvSpPr/>
          <p:nvPr/>
        </p:nvSpPr>
        <p:spPr>
          <a:xfrm>
            <a:off x="2103120" y="4407408"/>
            <a:ext cx="4389120" cy="292608"/>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Numerik Inti 1: Hierarki Pecahan Bersusun</a:t>
            </a:r>
            <a:endParaRPr lang="en-US" sz="1200" dirty="0"/>
          </a:p>
        </p:txBody>
      </p:sp>
      <p:sp>
        <p:nvSpPr>
          <p:cNvPr id="31" name="Text 29"/>
          <p:cNvSpPr/>
          <p:nvPr/>
        </p:nvSpPr>
        <p:spPr>
          <a:xfrm>
            <a:off x="2103120" y="4681728"/>
            <a:ext cx="8046720" cy="320040"/>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Membedah operasi (A/B)/C vs A/(B/C), desimal berulang, persentase cepat, dan manipulasi eksponen tanpa hitung kasar.</a:t>
            </a:r>
            <a:endParaRPr lang="en-US" sz="950" dirty="0"/>
          </a:p>
        </p:txBody>
      </p:sp>
      <p:sp>
        <p:nvSpPr>
          <p:cNvPr id="32" name="Shape 30"/>
          <p:cNvSpPr/>
          <p:nvPr/>
        </p:nvSpPr>
        <p:spPr>
          <a:xfrm>
            <a:off x="10241280" y="4498848"/>
            <a:ext cx="1005840" cy="347472"/>
          </a:xfrm>
          <a:prstGeom prst="roundRect">
            <a:avLst>
              <a:gd name="adj" fmla="val 15789"/>
            </a:avLst>
          </a:prstGeom>
          <a:solidFill>
            <a:srgbClr val="F8FAFC"/>
          </a:solidFill>
          <a:ln w="12700">
            <a:solidFill>
              <a:srgbClr val="E2E8F0"/>
            </a:solidFill>
            <a:prstDash val="solid"/>
          </a:ln>
        </p:spPr>
      </p:sp>
      <p:sp>
        <p:nvSpPr>
          <p:cNvPr id="33" name="Text 31"/>
          <p:cNvSpPr/>
          <p:nvPr/>
        </p:nvSpPr>
        <p:spPr>
          <a:xfrm>
            <a:off x="10241280" y="4553712"/>
            <a:ext cx="1005840" cy="27432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Numerik</a:t>
            </a:r>
            <a:endParaRPr lang="en-US" sz="950" dirty="0"/>
          </a:p>
        </p:txBody>
      </p:sp>
      <p:sp>
        <p:nvSpPr>
          <p:cNvPr id="34" name="Shape 32"/>
          <p:cNvSpPr/>
          <p:nvPr/>
        </p:nvSpPr>
        <p:spPr>
          <a:xfrm>
            <a:off x="731520" y="5166360"/>
            <a:ext cx="10698480" cy="749808"/>
          </a:xfrm>
          <a:prstGeom prst="roundRect">
            <a:avLst>
              <a:gd name="adj" fmla="val 9756"/>
            </a:avLst>
          </a:prstGeom>
          <a:solidFill>
            <a:srgbClr val="FFFFFF"/>
          </a:solidFill>
          <a:ln w="12700">
            <a:solidFill>
              <a:srgbClr val="E2E8F0"/>
            </a:solidFill>
            <a:prstDash val="solid"/>
          </a:ln>
        </p:spPr>
      </p:sp>
      <p:sp>
        <p:nvSpPr>
          <p:cNvPr id="35" name="Shape 33"/>
          <p:cNvSpPr/>
          <p:nvPr/>
        </p:nvSpPr>
        <p:spPr>
          <a:xfrm>
            <a:off x="914400" y="5312664"/>
            <a:ext cx="1005840" cy="457200"/>
          </a:xfrm>
          <a:prstGeom prst="roundRect">
            <a:avLst>
              <a:gd name="adj" fmla="val 12000"/>
            </a:avLst>
          </a:prstGeom>
          <a:solidFill>
            <a:srgbClr val="EFF6FF"/>
          </a:solidFill>
          <a:ln w="12700">
            <a:solidFill>
              <a:srgbClr val="2563EB"/>
            </a:solidFill>
            <a:prstDash val="solid"/>
          </a:ln>
        </p:spPr>
      </p:sp>
      <p:sp>
        <p:nvSpPr>
          <p:cNvPr id="36" name="Text 34"/>
          <p:cNvSpPr/>
          <p:nvPr/>
        </p:nvSpPr>
        <p:spPr>
          <a:xfrm>
            <a:off x="914400" y="5367528"/>
            <a:ext cx="1005840" cy="365760"/>
          </a:xfrm>
          <a:prstGeom prst="rect">
            <a:avLst/>
          </a:prstGeom>
          <a:noFill/>
          <a:ln/>
        </p:spPr>
        <p:txBody>
          <a:bodyPr wrap="square" rtlCol="0" anchor="ctr"/>
          <a:lstStyle/>
          <a:p>
            <a:pPr algn="ctr" indent="0" marL="0">
              <a:buNone/>
            </a:pPr>
            <a:r>
              <a:rPr lang="en-US" sz="1100" b="1" dirty="0">
                <a:solidFill>
                  <a:srgbClr val="2563EB"/>
                </a:solidFill>
                <a:latin typeface="Segoe UI" pitchFamily="34" charset="0"/>
                <a:ea typeface="Segoe UI" pitchFamily="34" charset="-122"/>
                <a:cs typeface="Segoe UI" pitchFamily="34" charset="-120"/>
              </a:rPr>
              <a:t>Sesi 5</a:t>
            </a:r>
            <a:endParaRPr lang="en-US" sz="1100" dirty="0"/>
          </a:p>
        </p:txBody>
      </p:sp>
      <p:sp>
        <p:nvSpPr>
          <p:cNvPr id="37" name="Text 35"/>
          <p:cNvSpPr/>
          <p:nvPr/>
        </p:nvSpPr>
        <p:spPr>
          <a:xfrm>
            <a:off x="2103120" y="5276088"/>
            <a:ext cx="4389120" cy="292608"/>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Numerik Inti 2: Faktorisasi Aljabar Khusus</a:t>
            </a:r>
            <a:endParaRPr lang="en-US" sz="1200" dirty="0"/>
          </a:p>
        </p:txBody>
      </p:sp>
      <p:sp>
        <p:nvSpPr>
          <p:cNvPr id="38" name="Text 36"/>
          <p:cNvSpPr/>
          <p:nvPr/>
        </p:nvSpPr>
        <p:spPr>
          <a:xfrm>
            <a:off x="2103120" y="5550408"/>
            <a:ext cx="8046720" cy="320040"/>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Penerapan identitas aljabar penting: a² - b² = (a-b)(a+b), kuadrat suku dua, dan perhitungan angka ribuan dalam waktu 10 detik.</a:t>
            </a:r>
            <a:endParaRPr lang="en-US" sz="950" dirty="0"/>
          </a:p>
        </p:txBody>
      </p:sp>
      <p:sp>
        <p:nvSpPr>
          <p:cNvPr id="39" name="Shape 37"/>
          <p:cNvSpPr/>
          <p:nvPr/>
        </p:nvSpPr>
        <p:spPr>
          <a:xfrm>
            <a:off x="10241280" y="5367528"/>
            <a:ext cx="1005840" cy="347472"/>
          </a:xfrm>
          <a:prstGeom prst="roundRect">
            <a:avLst>
              <a:gd name="adj" fmla="val 15789"/>
            </a:avLst>
          </a:prstGeom>
          <a:solidFill>
            <a:srgbClr val="F8FAFC"/>
          </a:solidFill>
          <a:ln w="12700">
            <a:solidFill>
              <a:srgbClr val="E2E8F0"/>
            </a:solidFill>
            <a:prstDash val="solid"/>
          </a:ln>
        </p:spPr>
      </p:sp>
      <p:sp>
        <p:nvSpPr>
          <p:cNvPr id="40" name="Text 38"/>
          <p:cNvSpPr/>
          <p:nvPr/>
        </p:nvSpPr>
        <p:spPr>
          <a:xfrm>
            <a:off x="10241280" y="5422392"/>
            <a:ext cx="1005840" cy="27432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Aljabar</a:t>
            </a:r>
            <a:endParaRPr lang="en-US" sz="950" dirty="0"/>
          </a:p>
        </p:txBody>
      </p:sp>
      <p:sp>
        <p:nvSpPr>
          <p:cNvPr id="41" name="Shape 39"/>
          <p:cNvSpPr/>
          <p:nvPr/>
        </p:nvSpPr>
        <p:spPr>
          <a:xfrm>
            <a:off x="731520" y="6309360"/>
            <a:ext cx="10725912" cy="0"/>
          </a:xfrm>
          <a:prstGeom prst="line">
            <a:avLst/>
          </a:prstGeom>
          <a:noFill/>
          <a:ln w="12700">
            <a:solidFill>
              <a:srgbClr val="E2E8F0"/>
            </a:solidFill>
            <a:prstDash val="solid"/>
          </a:ln>
        </p:spPr>
      </p:sp>
      <p:sp>
        <p:nvSpPr>
          <p:cNvPr id="42" name="Text 40"/>
          <p:cNvSpPr/>
          <p:nvPr/>
        </p:nvSpPr>
        <p:spPr>
          <a:xfrm>
            <a:off x="731520" y="6355080"/>
            <a:ext cx="7315200" cy="27432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LESINAJA • Program Persiapan Intensif TIU CPNS 2027</a:t>
            </a:r>
            <a:endParaRPr lang="en-US" sz="900" dirty="0"/>
          </a:p>
        </p:txBody>
      </p:sp>
      <p:sp>
        <p:nvSpPr>
          <p:cNvPr id="43" name="Text 41"/>
          <p:cNvSpPr/>
          <p:nvPr/>
        </p:nvSpPr>
        <p:spPr>
          <a:xfrm>
            <a:off x="9601200" y="6355080"/>
            <a:ext cx="1828800" cy="274320"/>
          </a:xfrm>
          <a:prstGeom prst="rect">
            <a:avLst/>
          </a:prstGeom>
          <a:noFill/>
          <a:ln/>
        </p:spPr>
        <p:txBody>
          <a:bodyPr wrap="square" rtlCol="0" anchor="ctr"/>
          <a:lstStyle/>
          <a:p>
            <a:pPr algn="r" indent="0" marL="0">
              <a:buNone/>
            </a:pPr>
            <a:r>
              <a:rPr lang="en-US" sz="900" dirty="0">
                <a:solidFill>
                  <a:srgbClr val="475569"/>
                </a:solidFill>
                <a:latin typeface="Segoe UI" pitchFamily="34" charset="0"/>
                <a:ea typeface="Segoe UI" pitchFamily="34" charset="-122"/>
                <a:cs typeface="Segoe UI" pitchFamily="34" charset="-120"/>
              </a:rPr>
              <a:t>Slide 11 dari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2563EB"/>
                </a:solidFill>
                <a:latin typeface="Segoe UI" pitchFamily="34" charset="0"/>
                <a:ea typeface="Segoe UI" pitchFamily="34" charset="-122"/>
                <a:cs typeface="Segoe UI" pitchFamily="34" charset="-120"/>
              </a:rPr>
              <a:t>KURIKULUM 15 PERTEMUAN</a:t>
            </a:r>
            <a:endParaRPr lang="en-US" sz="10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Fase 2: Penguasaan Materi HOTS Kedinasan (Sesi 6 – 10)</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475569"/>
                </a:solidFill>
                <a:latin typeface="Segoe UI" pitchFamily="34" charset="0"/>
                <a:ea typeface="Segoe UI" pitchFamily="34" charset="-122"/>
                <a:cs typeface="Segoe UI" pitchFamily="34" charset="-120"/>
              </a:rPr>
              <a:t>Menguasai tipe-tipe soal paling modern yang menjadi penentu kelulusan ranking teratas</a:t>
            </a:r>
            <a:endParaRPr lang="en-US" sz="1200" dirty="0"/>
          </a:p>
        </p:txBody>
      </p:sp>
      <p:sp>
        <p:nvSpPr>
          <p:cNvPr id="6" name="Shape 4"/>
          <p:cNvSpPr/>
          <p:nvPr/>
        </p:nvSpPr>
        <p:spPr>
          <a:xfrm>
            <a:off x="731520" y="1691640"/>
            <a:ext cx="10698480" cy="749808"/>
          </a:xfrm>
          <a:prstGeom prst="roundRect">
            <a:avLst>
              <a:gd name="adj" fmla="val 9756"/>
            </a:avLst>
          </a:prstGeom>
          <a:solidFill>
            <a:srgbClr val="FFFFFF"/>
          </a:solidFill>
          <a:ln w="12700">
            <a:solidFill>
              <a:srgbClr val="E2E8F0"/>
            </a:solidFill>
            <a:prstDash val="solid"/>
          </a:ln>
        </p:spPr>
      </p:sp>
      <p:sp>
        <p:nvSpPr>
          <p:cNvPr id="7" name="Shape 5"/>
          <p:cNvSpPr/>
          <p:nvPr/>
        </p:nvSpPr>
        <p:spPr>
          <a:xfrm>
            <a:off x="914400" y="1837944"/>
            <a:ext cx="1005840" cy="457200"/>
          </a:xfrm>
          <a:prstGeom prst="roundRect">
            <a:avLst>
              <a:gd name="adj" fmla="val 12000"/>
            </a:avLst>
          </a:prstGeom>
          <a:solidFill>
            <a:srgbClr val="D1FAE5"/>
          </a:solidFill>
          <a:ln w="12700">
            <a:solidFill>
              <a:srgbClr val="059669"/>
            </a:solidFill>
            <a:prstDash val="solid"/>
          </a:ln>
        </p:spPr>
      </p:sp>
      <p:sp>
        <p:nvSpPr>
          <p:cNvPr id="8" name="Text 6"/>
          <p:cNvSpPr/>
          <p:nvPr/>
        </p:nvSpPr>
        <p:spPr>
          <a:xfrm>
            <a:off x="914400" y="1892808"/>
            <a:ext cx="1005840" cy="365760"/>
          </a:xfrm>
          <a:prstGeom prst="rect">
            <a:avLst/>
          </a:prstGeom>
          <a:noFill/>
          <a:ln/>
        </p:spPr>
        <p:txBody>
          <a:bodyPr wrap="square" rtlCol="0" anchor="ctr"/>
          <a:lstStyle/>
          <a:p>
            <a:pPr algn="ctr" indent="0" marL="0">
              <a:buNone/>
            </a:pPr>
            <a:r>
              <a:rPr lang="en-US" sz="1100" b="1" dirty="0">
                <a:solidFill>
                  <a:srgbClr val="059669"/>
                </a:solidFill>
                <a:latin typeface="Segoe UI" pitchFamily="34" charset="0"/>
                <a:ea typeface="Segoe UI" pitchFamily="34" charset="-122"/>
                <a:cs typeface="Segoe UI" pitchFamily="34" charset="-120"/>
              </a:rPr>
              <a:t>Sesi 6</a:t>
            </a:r>
            <a:endParaRPr lang="en-US" sz="1100" dirty="0"/>
          </a:p>
        </p:txBody>
      </p:sp>
      <p:sp>
        <p:nvSpPr>
          <p:cNvPr id="9" name="Text 7"/>
          <p:cNvSpPr/>
          <p:nvPr/>
        </p:nvSpPr>
        <p:spPr>
          <a:xfrm>
            <a:off x="2103120" y="1801368"/>
            <a:ext cx="4389120" cy="292608"/>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Logika Analitis: Posisi, Meja Bundar, &amp; Grid</a:t>
            </a:r>
            <a:endParaRPr lang="en-US" sz="1200" dirty="0"/>
          </a:p>
        </p:txBody>
      </p:sp>
      <p:sp>
        <p:nvSpPr>
          <p:cNvPr id="10" name="Text 8"/>
          <p:cNvSpPr/>
          <p:nvPr/>
        </p:nvSpPr>
        <p:spPr>
          <a:xfrm>
            <a:off x="2103120" y="2075688"/>
            <a:ext cx="8046720" cy="320040"/>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Metode Grid Elimination (Tabel Silang) dan pemetaan diagram garis untuk menyelesaikan 5 variabel tempat duduk dan jadwal bersyarat.</a:t>
            </a:r>
            <a:endParaRPr lang="en-US" sz="950" dirty="0"/>
          </a:p>
        </p:txBody>
      </p:sp>
      <p:sp>
        <p:nvSpPr>
          <p:cNvPr id="11" name="Shape 9"/>
          <p:cNvSpPr/>
          <p:nvPr/>
        </p:nvSpPr>
        <p:spPr>
          <a:xfrm>
            <a:off x="10241280" y="1892808"/>
            <a:ext cx="1005840" cy="347472"/>
          </a:xfrm>
          <a:prstGeom prst="roundRect">
            <a:avLst>
              <a:gd name="adj" fmla="val 15789"/>
            </a:avLst>
          </a:prstGeom>
          <a:solidFill>
            <a:srgbClr val="F8FAFC"/>
          </a:solidFill>
          <a:ln w="12700">
            <a:solidFill>
              <a:srgbClr val="E2E8F0"/>
            </a:solidFill>
            <a:prstDash val="solid"/>
          </a:ln>
        </p:spPr>
      </p:sp>
      <p:sp>
        <p:nvSpPr>
          <p:cNvPr id="12" name="Text 10"/>
          <p:cNvSpPr/>
          <p:nvPr/>
        </p:nvSpPr>
        <p:spPr>
          <a:xfrm>
            <a:off x="10241280" y="1947672"/>
            <a:ext cx="1005840" cy="27432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Analitis</a:t>
            </a:r>
            <a:endParaRPr lang="en-US" sz="950" dirty="0"/>
          </a:p>
        </p:txBody>
      </p:sp>
      <p:sp>
        <p:nvSpPr>
          <p:cNvPr id="13" name="Shape 11"/>
          <p:cNvSpPr/>
          <p:nvPr/>
        </p:nvSpPr>
        <p:spPr>
          <a:xfrm>
            <a:off x="731520" y="2560320"/>
            <a:ext cx="10698480" cy="749808"/>
          </a:xfrm>
          <a:prstGeom prst="roundRect">
            <a:avLst>
              <a:gd name="adj" fmla="val 9756"/>
            </a:avLst>
          </a:prstGeom>
          <a:solidFill>
            <a:srgbClr val="FFFFFF"/>
          </a:solidFill>
          <a:ln w="12700">
            <a:solidFill>
              <a:srgbClr val="E2E8F0"/>
            </a:solidFill>
            <a:prstDash val="solid"/>
          </a:ln>
        </p:spPr>
      </p:sp>
      <p:sp>
        <p:nvSpPr>
          <p:cNvPr id="14" name="Shape 12"/>
          <p:cNvSpPr/>
          <p:nvPr/>
        </p:nvSpPr>
        <p:spPr>
          <a:xfrm>
            <a:off x="914400" y="2706624"/>
            <a:ext cx="1005840" cy="457200"/>
          </a:xfrm>
          <a:prstGeom prst="roundRect">
            <a:avLst>
              <a:gd name="adj" fmla="val 12000"/>
            </a:avLst>
          </a:prstGeom>
          <a:solidFill>
            <a:srgbClr val="D1FAE5"/>
          </a:solidFill>
          <a:ln w="12700">
            <a:solidFill>
              <a:srgbClr val="059669"/>
            </a:solidFill>
            <a:prstDash val="solid"/>
          </a:ln>
        </p:spPr>
      </p:sp>
      <p:sp>
        <p:nvSpPr>
          <p:cNvPr id="15" name="Text 13"/>
          <p:cNvSpPr/>
          <p:nvPr/>
        </p:nvSpPr>
        <p:spPr>
          <a:xfrm>
            <a:off x="914400" y="2761488"/>
            <a:ext cx="1005840" cy="365760"/>
          </a:xfrm>
          <a:prstGeom prst="rect">
            <a:avLst/>
          </a:prstGeom>
          <a:noFill/>
          <a:ln/>
        </p:spPr>
        <p:txBody>
          <a:bodyPr wrap="square" rtlCol="0" anchor="ctr"/>
          <a:lstStyle/>
          <a:p>
            <a:pPr algn="ctr" indent="0" marL="0">
              <a:buNone/>
            </a:pPr>
            <a:r>
              <a:rPr lang="en-US" sz="1100" b="1" dirty="0">
                <a:solidFill>
                  <a:srgbClr val="059669"/>
                </a:solidFill>
                <a:latin typeface="Segoe UI" pitchFamily="34" charset="0"/>
                <a:ea typeface="Segoe UI" pitchFamily="34" charset="-122"/>
                <a:cs typeface="Segoe UI" pitchFamily="34" charset="-120"/>
              </a:rPr>
              <a:t>Sesi 7</a:t>
            </a:r>
            <a:endParaRPr lang="en-US" sz="1100" dirty="0"/>
          </a:p>
        </p:txBody>
      </p:sp>
      <p:sp>
        <p:nvSpPr>
          <p:cNvPr id="16" name="Text 14"/>
          <p:cNvSpPr/>
          <p:nvPr/>
        </p:nvSpPr>
        <p:spPr>
          <a:xfrm>
            <a:off x="2103120" y="2670048"/>
            <a:ext cx="4389120" cy="292608"/>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Deret Pola Bertingkat &amp; Alfanumerik</a:t>
            </a:r>
            <a:endParaRPr lang="en-US" sz="1200" dirty="0"/>
          </a:p>
        </p:txBody>
      </p:sp>
      <p:sp>
        <p:nvSpPr>
          <p:cNvPr id="17" name="Text 15"/>
          <p:cNvSpPr/>
          <p:nvPr/>
        </p:nvSpPr>
        <p:spPr>
          <a:xfrm>
            <a:off x="2103120" y="2944368"/>
            <a:ext cx="8046720" cy="320040"/>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Membongkar deret selisih kuadrat bertingkat dua, variasi deret Fibonacci, deret matriks tabel, dan lompatan huruf abjad ganda.</a:t>
            </a:r>
            <a:endParaRPr lang="en-US" sz="950" dirty="0"/>
          </a:p>
        </p:txBody>
      </p:sp>
      <p:sp>
        <p:nvSpPr>
          <p:cNvPr id="18" name="Shape 16"/>
          <p:cNvSpPr/>
          <p:nvPr/>
        </p:nvSpPr>
        <p:spPr>
          <a:xfrm>
            <a:off x="10241280" y="2761488"/>
            <a:ext cx="1005840" cy="347472"/>
          </a:xfrm>
          <a:prstGeom prst="roundRect">
            <a:avLst>
              <a:gd name="adj" fmla="val 15789"/>
            </a:avLst>
          </a:prstGeom>
          <a:solidFill>
            <a:srgbClr val="F8FAFC"/>
          </a:solidFill>
          <a:ln w="12700">
            <a:solidFill>
              <a:srgbClr val="E2E8F0"/>
            </a:solidFill>
            <a:prstDash val="solid"/>
          </a:ln>
        </p:spPr>
      </p:sp>
      <p:sp>
        <p:nvSpPr>
          <p:cNvPr id="19" name="Text 17"/>
          <p:cNvSpPr/>
          <p:nvPr/>
        </p:nvSpPr>
        <p:spPr>
          <a:xfrm>
            <a:off x="10241280" y="2816352"/>
            <a:ext cx="1005840" cy="27432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Deret</a:t>
            </a:r>
            <a:endParaRPr lang="en-US" sz="950" dirty="0"/>
          </a:p>
        </p:txBody>
      </p:sp>
      <p:sp>
        <p:nvSpPr>
          <p:cNvPr id="20" name="Shape 18"/>
          <p:cNvSpPr/>
          <p:nvPr/>
        </p:nvSpPr>
        <p:spPr>
          <a:xfrm>
            <a:off x="731520" y="3429000"/>
            <a:ext cx="10698480" cy="749808"/>
          </a:xfrm>
          <a:prstGeom prst="roundRect">
            <a:avLst>
              <a:gd name="adj" fmla="val 9756"/>
            </a:avLst>
          </a:prstGeom>
          <a:solidFill>
            <a:srgbClr val="FFFFFF"/>
          </a:solidFill>
          <a:ln w="12700">
            <a:solidFill>
              <a:srgbClr val="E2E8F0"/>
            </a:solidFill>
            <a:prstDash val="solid"/>
          </a:ln>
        </p:spPr>
      </p:sp>
      <p:sp>
        <p:nvSpPr>
          <p:cNvPr id="21" name="Shape 19"/>
          <p:cNvSpPr/>
          <p:nvPr/>
        </p:nvSpPr>
        <p:spPr>
          <a:xfrm>
            <a:off x="914400" y="3575304"/>
            <a:ext cx="1005840" cy="457200"/>
          </a:xfrm>
          <a:prstGeom prst="roundRect">
            <a:avLst>
              <a:gd name="adj" fmla="val 12000"/>
            </a:avLst>
          </a:prstGeom>
          <a:solidFill>
            <a:srgbClr val="D1FAE5"/>
          </a:solidFill>
          <a:ln w="12700">
            <a:solidFill>
              <a:srgbClr val="059669"/>
            </a:solidFill>
            <a:prstDash val="solid"/>
          </a:ln>
        </p:spPr>
      </p:sp>
      <p:sp>
        <p:nvSpPr>
          <p:cNvPr id="22" name="Text 20"/>
          <p:cNvSpPr/>
          <p:nvPr/>
        </p:nvSpPr>
        <p:spPr>
          <a:xfrm>
            <a:off x="914400" y="3630168"/>
            <a:ext cx="1005840" cy="365760"/>
          </a:xfrm>
          <a:prstGeom prst="rect">
            <a:avLst/>
          </a:prstGeom>
          <a:noFill/>
          <a:ln/>
        </p:spPr>
        <p:txBody>
          <a:bodyPr wrap="square" rtlCol="0" anchor="ctr"/>
          <a:lstStyle/>
          <a:p>
            <a:pPr algn="ctr" indent="0" marL="0">
              <a:buNone/>
            </a:pPr>
            <a:r>
              <a:rPr lang="en-US" sz="1100" b="1" dirty="0">
                <a:solidFill>
                  <a:srgbClr val="059669"/>
                </a:solidFill>
                <a:latin typeface="Segoe UI" pitchFamily="34" charset="0"/>
                <a:ea typeface="Segoe UI" pitchFamily="34" charset="-122"/>
                <a:cs typeface="Segoe UI" pitchFamily="34" charset="-120"/>
              </a:rPr>
              <a:t>Sesi 8</a:t>
            </a:r>
            <a:endParaRPr lang="en-US" sz="1100" dirty="0"/>
          </a:p>
        </p:txBody>
      </p:sp>
      <p:sp>
        <p:nvSpPr>
          <p:cNvPr id="23" name="Text 21"/>
          <p:cNvSpPr/>
          <p:nvPr/>
        </p:nvSpPr>
        <p:spPr>
          <a:xfrm>
            <a:off x="2103120" y="3538728"/>
            <a:ext cx="4389120" cy="292608"/>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Operasi Simbol Acak &amp; Fungsi Khusus</a:t>
            </a:r>
            <a:endParaRPr lang="en-US" sz="1200" dirty="0"/>
          </a:p>
        </p:txBody>
      </p:sp>
      <p:sp>
        <p:nvSpPr>
          <p:cNvPr id="24" name="Text 22"/>
          <p:cNvSpPr/>
          <p:nvPr/>
        </p:nvSpPr>
        <p:spPr>
          <a:xfrm>
            <a:off x="2103120" y="3813048"/>
            <a:ext cx="8046720" cy="320040"/>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Menyelesaikan model soal baru f(x) dan operator buatan (misal x ⋆ y = 2x + 3y - xy) secara adaptif dan tanpa kebingungan.</a:t>
            </a:r>
            <a:endParaRPr lang="en-US" sz="950" dirty="0"/>
          </a:p>
        </p:txBody>
      </p:sp>
      <p:sp>
        <p:nvSpPr>
          <p:cNvPr id="25" name="Shape 23"/>
          <p:cNvSpPr/>
          <p:nvPr/>
        </p:nvSpPr>
        <p:spPr>
          <a:xfrm>
            <a:off x="10241280" y="3630168"/>
            <a:ext cx="1005840" cy="347472"/>
          </a:xfrm>
          <a:prstGeom prst="roundRect">
            <a:avLst>
              <a:gd name="adj" fmla="val 15789"/>
            </a:avLst>
          </a:prstGeom>
          <a:solidFill>
            <a:srgbClr val="F8FAFC"/>
          </a:solidFill>
          <a:ln w="12700">
            <a:solidFill>
              <a:srgbClr val="E2E8F0"/>
            </a:solidFill>
            <a:prstDash val="solid"/>
          </a:ln>
        </p:spPr>
      </p:sp>
      <p:sp>
        <p:nvSpPr>
          <p:cNvPr id="26" name="Text 24"/>
          <p:cNvSpPr/>
          <p:nvPr/>
        </p:nvSpPr>
        <p:spPr>
          <a:xfrm>
            <a:off x="10241280" y="3685032"/>
            <a:ext cx="1005840" cy="27432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Simbol</a:t>
            </a:r>
            <a:endParaRPr lang="en-US" sz="950" dirty="0"/>
          </a:p>
        </p:txBody>
      </p:sp>
      <p:sp>
        <p:nvSpPr>
          <p:cNvPr id="27" name="Shape 25"/>
          <p:cNvSpPr/>
          <p:nvPr/>
        </p:nvSpPr>
        <p:spPr>
          <a:xfrm>
            <a:off x="731520" y="4297680"/>
            <a:ext cx="10698480" cy="749808"/>
          </a:xfrm>
          <a:prstGeom prst="roundRect">
            <a:avLst>
              <a:gd name="adj" fmla="val 9756"/>
            </a:avLst>
          </a:prstGeom>
          <a:solidFill>
            <a:srgbClr val="FFFFFF"/>
          </a:solidFill>
          <a:ln w="12700">
            <a:solidFill>
              <a:srgbClr val="E2E8F0"/>
            </a:solidFill>
            <a:prstDash val="solid"/>
          </a:ln>
        </p:spPr>
      </p:sp>
      <p:sp>
        <p:nvSpPr>
          <p:cNvPr id="28" name="Shape 26"/>
          <p:cNvSpPr/>
          <p:nvPr/>
        </p:nvSpPr>
        <p:spPr>
          <a:xfrm>
            <a:off x="914400" y="4443984"/>
            <a:ext cx="1005840" cy="457200"/>
          </a:xfrm>
          <a:prstGeom prst="roundRect">
            <a:avLst>
              <a:gd name="adj" fmla="val 12000"/>
            </a:avLst>
          </a:prstGeom>
          <a:solidFill>
            <a:srgbClr val="D1FAE5"/>
          </a:solidFill>
          <a:ln w="12700">
            <a:solidFill>
              <a:srgbClr val="059669"/>
            </a:solidFill>
            <a:prstDash val="solid"/>
          </a:ln>
        </p:spPr>
      </p:sp>
      <p:sp>
        <p:nvSpPr>
          <p:cNvPr id="29" name="Text 27"/>
          <p:cNvSpPr/>
          <p:nvPr/>
        </p:nvSpPr>
        <p:spPr>
          <a:xfrm>
            <a:off x="914400" y="4498848"/>
            <a:ext cx="1005840" cy="365760"/>
          </a:xfrm>
          <a:prstGeom prst="rect">
            <a:avLst/>
          </a:prstGeom>
          <a:noFill/>
          <a:ln/>
        </p:spPr>
        <p:txBody>
          <a:bodyPr wrap="square" rtlCol="0" anchor="ctr"/>
          <a:lstStyle/>
          <a:p>
            <a:pPr algn="ctr" indent="0" marL="0">
              <a:buNone/>
            </a:pPr>
            <a:r>
              <a:rPr lang="en-US" sz="1100" b="1" dirty="0">
                <a:solidFill>
                  <a:srgbClr val="059669"/>
                </a:solidFill>
                <a:latin typeface="Segoe UI" pitchFamily="34" charset="0"/>
                <a:ea typeface="Segoe UI" pitchFamily="34" charset="-122"/>
                <a:cs typeface="Segoe UI" pitchFamily="34" charset="-120"/>
              </a:rPr>
              <a:t>Sesi 9</a:t>
            </a:r>
            <a:endParaRPr lang="en-US" sz="1100" dirty="0"/>
          </a:p>
        </p:txBody>
      </p:sp>
      <p:sp>
        <p:nvSpPr>
          <p:cNvPr id="30" name="Text 28"/>
          <p:cNvSpPr/>
          <p:nvPr/>
        </p:nvSpPr>
        <p:spPr>
          <a:xfrm>
            <a:off x="2103120" y="4407408"/>
            <a:ext cx="4389120" cy="292608"/>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Perbandingan Kuantitatif &amp; Data Tabel</a:t>
            </a:r>
            <a:endParaRPr lang="en-US" sz="1200" dirty="0"/>
          </a:p>
        </p:txBody>
      </p:sp>
      <p:sp>
        <p:nvSpPr>
          <p:cNvPr id="31" name="Text 29"/>
          <p:cNvSpPr/>
          <p:nvPr/>
        </p:nvSpPr>
        <p:spPr>
          <a:xfrm>
            <a:off x="2103120" y="4681728"/>
            <a:ext cx="8046720" cy="320040"/>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Teknik menentukan hubungan nilai X dan Y berbasis analisis tabel persentase/pertumbuhan tanpa menghitung seluruh angka desimal.</a:t>
            </a:r>
            <a:endParaRPr lang="en-US" sz="950" dirty="0"/>
          </a:p>
        </p:txBody>
      </p:sp>
      <p:sp>
        <p:nvSpPr>
          <p:cNvPr id="32" name="Shape 30"/>
          <p:cNvSpPr/>
          <p:nvPr/>
        </p:nvSpPr>
        <p:spPr>
          <a:xfrm>
            <a:off x="10241280" y="4498848"/>
            <a:ext cx="1005840" cy="347472"/>
          </a:xfrm>
          <a:prstGeom prst="roundRect">
            <a:avLst>
              <a:gd name="adj" fmla="val 15789"/>
            </a:avLst>
          </a:prstGeom>
          <a:solidFill>
            <a:srgbClr val="F8FAFC"/>
          </a:solidFill>
          <a:ln w="12700">
            <a:solidFill>
              <a:srgbClr val="E2E8F0"/>
            </a:solidFill>
            <a:prstDash val="solid"/>
          </a:ln>
        </p:spPr>
      </p:sp>
      <p:sp>
        <p:nvSpPr>
          <p:cNvPr id="33" name="Text 31"/>
          <p:cNvSpPr/>
          <p:nvPr/>
        </p:nvSpPr>
        <p:spPr>
          <a:xfrm>
            <a:off x="10241280" y="4553712"/>
            <a:ext cx="1005840" cy="27432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Kuantitatif</a:t>
            </a:r>
            <a:endParaRPr lang="en-US" sz="950" dirty="0"/>
          </a:p>
        </p:txBody>
      </p:sp>
      <p:sp>
        <p:nvSpPr>
          <p:cNvPr id="34" name="Shape 32"/>
          <p:cNvSpPr/>
          <p:nvPr/>
        </p:nvSpPr>
        <p:spPr>
          <a:xfrm>
            <a:off x="731520" y="5166360"/>
            <a:ext cx="10698480" cy="749808"/>
          </a:xfrm>
          <a:prstGeom prst="roundRect">
            <a:avLst>
              <a:gd name="adj" fmla="val 9756"/>
            </a:avLst>
          </a:prstGeom>
          <a:solidFill>
            <a:srgbClr val="FFFFFF"/>
          </a:solidFill>
          <a:ln w="12700">
            <a:solidFill>
              <a:srgbClr val="E2E8F0"/>
            </a:solidFill>
            <a:prstDash val="solid"/>
          </a:ln>
        </p:spPr>
      </p:sp>
      <p:sp>
        <p:nvSpPr>
          <p:cNvPr id="35" name="Shape 33"/>
          <p:cNvSpPr/>
          <p:nvPr/>
        </p:nvSpPr>
        <p:spPr>
          <a:xfrm>
            <a:off x="914400" y="5312664"/>
            <a:ext cx="1005840" cy="457200"/>
          </a:xfrm>
          <a:prstGeom prst="roundRect">
            <a:avLst>
              <a:gd name="adj" fmla="val 12000"/>
            </a:avLst>
          </a:prstGeom>
          <a:solidFill>
            <a:srgbClr val="D1FAE5"/>
          </a:solidFill>
          <a:ln w="12700">
            <a:solidFill>
              <a:srgbClr val="059669"/>
            </a:solidFill>
            <a:prstDash val="solid"/>
          </a:ln>
        </p:spPr>
      </p:sp>
      <p:sp>
        <p:nvSpPr>
          <p:cNvPr id="36" name="Text 34"/>
          <p:cNvSpPr/>
          <p:nvPr/>
        </p:nvSpPr>
        <p:spPr>
          <a:xfrm>
            <a:off x="914400" y="5367528"/>
            <a:ext cx="1005840" cy="365760"/>
          </a:xfrm>
          <a:prstGeom prst="rect">
            <a:avLst/>
          </a:prstGeom>
          <a:noFill/>
          <a:ln/>
        </p:spPr>
        <p:txBody>
          <a:bodyPr wrap="square" rtlCol="0" anchor="ctr"/>
          <a:lstStyle/>
          <a:p>
            <a:pPr algn="ctr" indent="0" marL="0">
              <a:buNone/>
            </a:pPr>
            <a:r>
              <a:rPr lang="en-US" sz="1100" b="1" dirty="0">
                <a:solidFill>
                  <a:srgbClr val="059669"/>
                </a:solidFill>
                <a:latin typeface="Segoe UI" pitchFamily="34" charset="0"/>
                <a:ea typeface="Segoe UI" pitchFamily="34" charset="-122"/>
                <a:cs typeface="Segoe UI" pitchFamily="34" charset="-120"/>
              </a:rPr>
              <a:t>Sesi 10</a:t>
            </a:r>
            <a:endParaRPr lang="en-US" sz="1100" dirty="0"/>
          </a:p>
        </p:txBody>
      </p:sp>
      <p:sp>
        <p:nvSpPr>
          <p:cNvPr id="37" name="Text 35"/>
          <p:cNvSpPr/>
          <p:nvPr/>
        </p:nvSpPr>
        <p:spPr>
          <a:xfrm>
            <a:off x="2103120" y="5276088"/>
            <a:ext cx="4389120" cy="292608"/>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Figural HOTS: Matriks 9 Kotak &amp; Refleksi</a:t>
            </a:r>
            <a:endParaRPr lang="en-US" sz="1200" dirty="0"/>
          </a:p>
        </p:txBody>
      </p:sp>
      <p:sp>
        <p:nvSpPr>
          <p:cNvPr id="38" name="Text 36"/>
          <p:cNvSpPr/>
          <p:nvPr/>
        </p:nvSpPr>
        <p:spPr>
          <a:xfrm>
            <a:off x="2103120" y="5550408"/>
            <a:ext cx="8046720" cy="320040"/>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Bedah tuntas matriks 3x3: aturan pergerakan elemen luar vs dalam, pembedaan rotasi sudut vs bayangan cermin (refleksi).</a:t>
            </a:r>
            <a:endParaRPr lang="en-US" sz="950" dirty="0"/>
          </a:p>
        </p:txBody>
      </p:sp>
      <p:sp>
        <p:nvSpPr>
          <p:cNvPr id="39" name="Shape 37"/>
          <p:cNvSpPr/>
          <p:nvPr/>
        </p:nvSpPr>
        <p:spPr>
          <a:xfrm>
            <a:off x="10241280" y="5367528"/>
            <a:ext cx="1005840" cy="347472"/>
          </a:xfrm>
          <a:prstGeom prst="roundRect">
            <a:avLst>
              <a:gd name="adj" fmla="val 15789"/>
            </a:avLst>
          </a:prstGeom>
          <a:solidFill>
            <a:srgbClr val="F8FAFC"/>
          </a:solidFill>
          <a:ln w="12700">
            <a:solidFill>
              <a:srgbClr val="E2E8F0"/>
            </a:solidFill>
            <a:prstDash val="solid"/>
          </a:ln>
        </p:spPr>
      </p:sp>
      <p:sp>
        <p:nvSpPr>
          <p:cNvPr id="40" name="Text 38"/>
          <p:cNvSpPr/>
          <p:nvPr/>
        </p:nvSpPr>
        <p:spPr>
          <a:xfrm>
            <a:off x="10241280" y="5422392"/>
            <a:ext cx="1005840" cy="27432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Spasial</a:t>
            </a:r>
            <a:endParaRPr lang="en-US" sz="950" dirty="0"/>
          </a:p>
        </p:txBody>
      </p:sp>
      <p:sp>
        <p:nvSpPr>
          <p:cNvPr id="41" name="Shape 39"/>
          <p:cNvSpPr/>
          <p:nvPr/>
        </p:nvSpPr>
        <p:spPr>
          <a:xfrm>
            <a:off x="731520" y="6309360"/>
            <a:ext cx="10725912" cy="0"/>
          </a:xfrm>
          <a:prstGeom prst="line">
            <a:avLst/>
          </a:prstGeom>
          <a:noFill/>
          <a:ln w="12700">
            <a:solidFill>
              <a:srgbClr val="E2E8F0"/>
            </a:solidFill>
            <a:prstDash val="solid"/>
          </a:ln>
        </p:spPr>
      </p:sp>
      <p:sp>
        <p:nvSpPr>
          <p:cNvPr id="42" name="Text 40"/>
          <p:cNvSpPr/>
          <p:nvPr/>
        </p:nvSpPr>
        <p:spPr>
          <a:xfrm>
            <a:off x="731520" y="6355080"/>
            <a:ext cx="7315200" cy="27432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LESINAJA • Program Persiapan Intensif TIU CPNS 2027</a:t>
            </a:r>
            <a:endParaRPr lang="en-US" sz="900" dirty="0"/>
          </a:p>
        </p:txBody>
      </p:sp>
      <p:sp>
        <p:nvSpPr>
          <p:cNvPr id="43" name="Text 41"/>
          <p:cNvSpPr/>
          <p:nvPr/>
        </p:nvSpPr>
        <p:spPr>
          <a:xfrm>
            <a:off x="9601200" y="6355080"/>
            <a:ext cx="1828800" cy="274320"/>
          </a:xfrm>
          <a:prstGeom prst="rect">
            <a:avLst/>
          </a:prstGeom>
          <a:noFill/>
          <a:ln/>
        </p:spPr>
        <p:txBody>
          <a:bodyPr wrap="square" rtlCol="0" anchor="ctr"/>
          <a:lstStyle/>
          <a:p>
            <a:pPr algn="r" indent="0" marL="0">
              <a:buNone/>
            </a:pPr>
            <a:r>
              <a:rPr lang="en-US" sz="900" dirty="0">
                <a:solidFill>
                  <a:srgbClr val="475569"/>
                </a:solidFill>
                <a:latin typeface="Segoe UI" pitchFamily="34" charset="0"/>
                <a:ea typeface="Segoe UI" pitchFamily="34" charset="-122"/>
                <a:cs typeface="Segoe UI" pitchFamily="34" charset="-120"/>
              </a:rPr>
              <a:t>Slide 12 dari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2563EB"/>
                </a:solidFill>
                <a:latin typeface="Segoe UI" pitchFamily="34" charset="0"/>
                <a:ea typeface="Segoe UI" pitchFamily="34" charset="-122"/>
                <a:cs typeface="Segoe UI" pitchFamily="34" charset="-120"/>
              </a:rPr>
              <a:t>KURIKULUM 15 PERTEMUAN</a:t>
            </a:r>
            <a:endParaRPr lang="en-US" sz="10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Fase 3: Kecepatan, Simulasi, &amp; Ketahanan Mental (Sesi 11 – 15)</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475569"/>
                </a:solidFill>
                <a:latin typeface="Segoe UI" pitchFamily="34" charset="0"/>
                <a:ea typeface="Segoe UI" pitchFamily="34" charset="-122"/>
                <a:cs typeface="Segoe UI" pitchFamily="34" charset="-120"/>
              </a:rPr>
              <a:t>Mengintegrasikan seluruh materi dalam simulasi berstandar CAT 30 menit</a:t>
            </a:r>
            <a:endParaRPr lang="en-US" sz="1200" dirty="0"/>
          </a:p>
        </p:txBody>
      </p:sp>
      <p:sp>
        <p:nvSpPr>
          <p:cNvPr id="6" name="Shape 4"/>
          <p:cNvSpPr/>
          <p:nvPr/>
        </p:nvSpPr>
        <p:spPr>
          <a:xfrm>
            <a:off x="731520" y="1691640"/>
            <a:ext cx="10698480" cy="749808"/>
          </a:xfrm>
          <a:prstGeom prst="roundRect">
            <a:avLst>
              <a:gd name="adj" fmla="val 9756"/>
            </a:avLst>
          </a:prstGeom>
          <a:solidFill>
            <a:srgbClr val="FFFFFF"/>
          </a:solidFill>
          <a:ln w="12700">
            <a:solidFill>
              <a:srgbClr val="E2E8F0"/>
            </a:solidFill>
            <a:prstDash val="solid"/>
          </a:ln>
        </p:spPr>
      </p:sp>
      <p:sp>
        <p:nvSpPr>
          <p:cNvPr id="7" name="Shape 5"/>
          <p:cNvSpPr/>
          <p:nvPr/>
        </p:nvSpPr>
        <p:spPr>
          <a:xfrm>
            <a:off x="914400" y="1837944"/>
            <a:ext cx="1005840" cy="457200"/>
          </a:xfrm>
          <a:prstGeom prst="roundRect">
            <a:avLst>
              <a:gd name="adj" fmla="val 12000"/>
            </a:avLst>
          </a:prstGeom>
          <a:solidFill>
            <a:srgbClr val="FEF3C7"/>
          </a:solidFill>
          <a:ln w="12700">
            <a:solidFill>
              <a:srgbClr val="D97706"/>
            </a:solidFill>
            <a:prstDash val="solid"/>
          </a:ln>
        </p:spPr>
      </p:sp>
      <p:sp>
        <p:nvSpPr>
          <p:cNvPr id="8" name="Text 6"/>
          <p:cNvSpPr/>
          <p:nvPr/>
        </p:nvSpPr>
        <p:spPr>
          <a:xfrm>
            <a:off x="914400" y="1892808"/>
            <a:ext cx="1005840" cy="365760"/>
          </a:xfrm>
          <a:prstGeom prst="rect">
            <a:avLst/>
          </a:prstGeom>
          <a:noFill/>
          <a:ln/>
        </p:spPr>
        <p:txBody>
          <a:bodyPr wrap="square" rtlCol="0" anchor="ctr"/>
          <a:lstStyle/>
          <a:p>
            <a:pPr algn="ctr" indent="0" marL="0">
              <a:buNone/>
            </a:pPr>
            <a:r>
              <a:rPr lang="en-US" sz="1100" b="1" dirty="0">
                <a:solidFill>
                  <a:srgbClr val="D97706"/>
                </a:solidFill>
                <a:latin typeface="Segoe UI" pitchFamily="34" charset="0"/>
                <a:ea typeface="Segoe UI" pitchFamily="34" charset="-122"/>
                <a:cs typeface="Segoe UI" pitchFamily="34" charset="-120"/>
              </a:rPr>
              <a:t>Sesi 11</a:t>
            </a:r>
            <a:endParaRPr lang="en-US" sz="1100" dirty="0"/>
          </a:p>
        </p:txBody>
      </p:sp>
      <p:sp>
        <p:nvSpPr>
          <p:cNvPr id="9" name="Text 7"/>
          <p:cNvSpPr/>
          <p:nvPr/>
        </p:nvSpPr>
        <p:spPr>
          <a:xfrm>
            <a:off x="2103120" y="1801368"/>
            <a:ext cx="4389120" cy="292608"/>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Soal Cerita Aritmetika Sosial &amp; Proyek</a:t>
            </a:r>
            <a:endParaRPr lang="en-US" sz="1200" dirty="0"/>
          </a:p>
        </p:txBody>
      </p:sp>
      <p:sp>
        <p:nvSpPr>
          <p:cNvPr id="10" name="Text 8"/>
          <p:cNvSpPr/>
          <p:nvPr/>
        </p:nvSpPr>
        <p:spPr>
          <a:xfrm>
            <a:off x="2103120" y="2075688"/>
            <a:ext cx="8046720" cy="320040"/>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Kecepatan kerja bersama (pipa/pekerja tambahan), rumus berpapasan &amp; menyusul, untung-rugi persentase, dan perbandingan senilai/berbalik nilai.</a:t>
            </a:r>
            <a:endParaRPr lang="en-US" sz="950" dirty="0"/>
          </a:p>
        </p:txBody>
      </p:sp>
      <p:sp>
        <p:nvSpPr>
          <p:cNvPr id="11" name="Shape 9"/>
          <p:cNvSpPr/>
          <p:nvPr/>
        </p:nvSpPr>
        <p:spPr>
          <a:xfrm>
            <a:off x="10241280" y="1892808"/>
            <a:ext cx="1005840" cy="347472"/>
          </a:xfrm>
          <a:prstGeom prst="roundRect">
            <a:avLst>
              <a:gd name="adj" fmla="val 15789"/>
            </a:avLst>
          </a:prstGeom>
          <a:solidFill>
            <a:srgbClr val="F8FAFC"/>
          </a:solidFill>
          <a:ln w="12700">
            <a:solidFill>
              <a:srgbClr val="E2E8F0"/>
            </a:solidFill>
            <a:prstDash val="solid"/>
          </a:ln>
        </p:spPr>
      </p:sp>
      <p:sp>
        <p:nvSpPr>
          <p:cNvPr id="12" name="Text 10"/>
          <p:cNvSpPr/>
          <p:nvPr/>
        </p:nvSpPr>
        <p:spPr>
          <a:xfrm>
            <a:off x="10241280" y="1947672"/>
            <a:ext cx="1005840" cy="27432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Aritmetika</a:t>
            </a:r>
            <a:endParaRPr lang="en-US" sz="950" dirty="0"/>
          </a:p>
        </p:txBody>
      </p:sp>
      <p:sp>
        <p:nvSpPr>
          <p:cNvPr id="13" name="Shape 11"/>
          <p:cNvSpPr/>
          <p:nvPr/>
        </p:nvSpPr>
        <p:spPr>
          <a:xfrm>
            <a:off x="731520" y="2560320"/>
            <a:ext cx="10698480" cy="749808"/>
          </a:xfrm>
          <a:prstGeom prst="roundRect">
            <a:avLst>
              <a:gd name="adj" fmla="val 9756"/>
            </a:avLst>
          </a:prstGeom>
          <a:solidFill>
            <a:srgbClr val="FFFFFF"/>
          </a:solidFill>
          <a:ln w="12700">
            <a:solidFill>
              <a:srgbClr val="E2E8F0"/>
            </a:solidFill>
            <a:prstDash val="solid"/>
          </a:ln>
        </p:spPr>
      </p:sp>
      <p:sp>
        <p:nvSpPr>
          <p:cNvPr id="14" name="Shape 12"/>
          <p:cNvSpPr/>
          <p:nvPr/>
        </p:nvSpPr>
        <p:spPr>
          <a:xfrm>
            <a:off x="914400" y="2706624"/>
            <a:ext cx="1005840" cy="457200"/>
          </a:xfrm>
          <a:prstGeom prst="roundRect">
            <a:avLst>
              <a:gd name="adj" fmla="val 12000"/>
            </a:avLst>
          </a:prstGeom>
          <a:solidFill>
            <a:srgbClr val="FEF3C7"/>
          </a:solidFill>
          <a:ln w="12700">
            <a:solidFill>
              <a:srgbClr val="D97706"/>
            </a:solidFill>
            <a:prstDash val="solid"/>
          </a:ln>
        </p:spPr>
      </p:sp>
      <p:sp>
        <p:nvSpPr>
          <p:cNvPr id="15" name="Text 13"/>
          <p:cNvSpPr/>
          <p:nvPr/>
        </p:nvSpPr>
        <p:spPr>
          <a:xfrm>
            <a:off x="914400" y="2761488"/>
            <a:ext cx="1005840" cy="365760"/>
          </a:xfrm>
          <a:prstGeom prst="rect">
            <a:avLst/>
          </a:prstGeom>
          <a:noFill/>
          <a:ln/>
        </p:spPr>
        <p:txBody>
          <a:bodyPr wrap="square" rtlCol="0" anchor="ctr"/>
          <a:lstStyle/>
          <a:p>
            <a:pPr algn="ctr" indent="0" marL="0">
              <a:buNone/>
            </a:pPr>
            <a:r>
              <a:rPr lang="en-US" sz="1100" b="1" dirty="0">
                <a:solidFill>
                  <a:srgbClr val="D97706"/>
                </a:solidFill>
                <a:latin typeface="Segoe UI" pitchFamily="34" charset="0"/>
                <a:ea typeface="Segoe UI" pitchFamily="34" charset="-122"/>
                <a:cs typeface="Segoe UI" pitchFamily="34" charset="-120"/>
              </a:rPr>
              <a:t>Sesi 12</a:t>
            </a:r>
            <a:endParaRPr lang="en-US" sz="1100" dirty="0"/>
          </a:p>
        </p:txBody>
      </p:sp>
      <p:sp>
        <p:nvSpPr>
          <p:cNvPr id="16" name="Text 14"/>
          <p:cNvSpPr/>
          <p:nvPr/>
        </p:nvSpPr>
        <p:spPr>
          <a:xfrm>
            <a:off x="2103120" y="2670048"/>
            <a:ext cx="4389120" cy="292608"/>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Kombinatorika &amp; Peluang Terapan</a:t>
            </a:r>
            <a:endParaRPr lang="en-US" sz="1200" dirty="0"/>
          </a:p>
        </p:txBody>
      </p:sp>
      <p:sp>
        <p:nvSpPr>
          <p:cNvPr id="17" name="Text 15"/>
          <p:cNvSpPr/>
          <p:nvPr/>
        </p:nvSpPr>
        <p:spPr>
          <a:xfrm>
            <a:off x="2103120" y="2944368"/>
            <a:ext cx="8046720" cy="320040"/>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Kaidah pencacahan cepat, permutasi susunan pengurus/posisi, kombinasi pemilihan tim delegasi, dan peluang kejadian bersyarat.</a:t>
            </a:r>
            <a:endParaRPr lang="en-US" sz="950" dirty="0"/>
          </a:p>
        </p:txBody>
      </p:sp>
      <p:sp>
        <p:nvSpPr>
          <p:cNvPr id="18" name="Shape 16"/>
          <p:cNvSpPr/>
          <p:nvPr/>
        </p:nvSpPr>
        <p:spPr>
          <a:xfrm>
            <a:off x="10241280" y="2761488"/>
            <a:ext cx="1005840" cy="347472"/>
          </a:xfrm>
          <a:prstGeom prst="roundRect">
            <a:avLst>
              <a:gd name="adj" fmla="val 15789"/>
            </a:avLst>
          </a:prstGeom>
          <a:solidFill>
            <a:srgbClr val="F8FAFC"/>
          </a:solidFill>
          <a:ln w="12700">
            <a:solidFill>
              <a:srgbClr val="E2E8F0"/>
            </a:solidFill>
            <a:prstDash val="solid"/>
          </a:ln>
        </p:spPr>
      </p:sp>
      <p:sp>
        <p:nvSpPr>
          <p:cNvPr id="19" name="Text 17"/>
          <p:cNvSpPr/>
          <p:nvPr/>
        </p:nvSpPr>
        <p:spPr>
          <a:xfrm>
            <a:off x="10241280" y="2816352"/>
            <a:ext cx="1005840" cy="27432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Peluang</a:t>
            </a:r>
            <a:endParaRPr lang="en-US" sz="950" dirty="0"/>
          </a:p>
        </p:txBody>
      </p:sp>
      <p:sp>
        <p:nvSpPr>
          <p:cNvPr id="20" name="Shape 18"/>
          <p:cNvSpPr/>
          <p:nvPr/>
        </p:nvSpPr>
        <p:spPr>
          <a:xfrm>
            <a:off x="731520" y="3429000"/>
            <a:ext cx="10698480" cy="749808"/>
          </a:xfrm>
          <a:prstGeom prst="roundRect">
            <a:avLst>
              <a:gd name="adj" fmla="val 9756"/>
            </a:avLst>
          </a:prstGeom>
          <a:solidFill>
            <a:srgbClr val="FFFFFF"/>
          </a:solidFill>
          <a:ln w="12700">
            <a:solidFill>
              <a:srgbClr val="E2E8F0"/>
            </a:solidFill>
            <a:prstDash val="solid"/>
          </a:ln>
        </p:spPr>
      </p:sp>
      <p:sp>
        <p:nvSpPr>
          <p:cNvPr id="21" name="Shape 19"/>
          <p:cNvSpPr/>
          <p:nvPr/>
        </p:nvSpPr>
        <p:spPr>
          <a:xfrm>
            <a:off x="914400" y="3575304"/>
            <a:ext cx="1005840" cy="457200"/>
          </a:xfrm>
          <a:prstGeom prst="roundRect">
            <a:avLst>
              <a:gd name="adj" fmla="val 12000"/>
            </a:avLst>
          </a:prstGeom>
          <a:solidFill>
            <a:srgbClr val="FEF3C7"/>
          </a:solidFill>
          <a:ln w="12700">
            <a:solidFill>
              <a:srgbClr val="D97706"/>
            </a:solidFill>
            <a:prstDash val="solid"/>
          </a:ln>
        </p:spPr>
      </p:sp>
      <p:sp>
        <p:nvSpPr>
          <p:cNvPr id="22" name="Text 20"/>
          <p:cNvSpPr/>
          <p:nvPr/>
        </p:nvSpPr>
        <p:spPr>
          <a:xfrm>
            <a:off x="914400" y="3630168"/>
            <a:ext cx="1005840" cy="365760"/>
          </a:xfrm>
          <a:prstGeom prst="rect">
            <a:avLst/>
          </a:prstGeom>
          <a:noFill/>
          <a:ln/>
        </p:spPr>
        <p:txBody>
          <a:bodyPr wrap="square" rtlCol="0" anchor="ctr"/>
          <a:lstStyle/>
          <a:p>
            <a:pPr algn="ctr" indent="0" marL="0">
              <a:buNone/>
            </a:pPr>
            <a:r>
              <a:rPr lang="en-US" sz="1100" b="1" dirty="0">
                <a:solidFill>
                  <a:srgbClr val="D97706"/>
                </a:solidFill>
                <a:latin typeface="Segoe UI" pitchFamily="34" charset="0"/>
                <a:ea typeface="Segoe UI" pitchFamily="34" charset="-122"/>
                <a:cs typeface="Segoe UI" pitchFamily="34" charset="-120"/>
              </a:rPr>
              <a:t>Sesi 13</a:t>
            </a:r>
            <a:endParaRPr lang="en-US" sz="1100" dirty="0"/>
          </a:p>
        </p:txBody>
      </p:sp>
      <p:sp>
        <p:nvSpPr>
          <p:cNvPr id="23" name="Text 21"/>
          <p:cNvSpPr/>
          <p:nvPr/>
        </p:nvSpPr>
        <p:spPr>
          <a:xfrm>
            <a:off x="2103120" y="3538728"/>
            <a:ext cx="4389120" cy="292608"/>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Speed Drill: 35 Soal Campuran (Timer 30 Menit)</a:t>
            </a:r>
            <a:endParaRPr lang="en-US" sz="1200" dirty="0"/>
          </a:p>
        </p:txBody>
      </p:sp>
      <p:sp>
        <p:nvSpPr>
          <p:cNvPr id="24" name="Text 22"/>
          <p:cNvSpPr/>
          <p:nvPr/>
        </p:nvSpPr>
        <p:spPr>
          <a:xfrm>
            <a:off x="2103120" y="3813048"/>
            <a:ext cx="8046720" cy="320040"/>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Latihan intensif 35 soal acak berstandar waktu riil. Melatih kedisiplinan mengalokasikan 50 detik/soal dan mempraktikkan teknik triage.</a:t>
            </a:r>
            <a:endParaRPr lang="en-US" sz="950" dirty="0"/>
          </a:p>
        </p:txBody>
      </p:sp>
      <p:sp>
        <p:nvSpPr>
          <p:cNvPr id="25" name="Shape 23"/>
          <p:cNvSpPr/>
          <p:nvPr/>
        </p:nvSpPr>
        <p:spPr>
          <a:xfrm>
            <a:off x="10241280" y="3630168"/>
            <a:ext cx="1005840" cy="347472"/>
          </a:xfrm>
          <a:prstGeom prst="roundRect">
            <a:avLst>
              <a:gd name="adj" fmla="val 15789"/>
            </a:avLst>
          </a:prstGeom>
          <a:solidFill>
            <a:srgbClr val="F8FAFC"/>
          </a:solidFill>
          <a:ln w="12700">
            <a:solidFill>
              <a:srgbClr val="E2E8F0"/>
            </a:solidFill>
            <a:prstDash val="solid"/>
          </a:ln>
        </p:spPr>
      </p:sp>
      <p:sp>
        <p:nvSpPr>
          <p:cNvPr id="26" name="Text 24"/>
          <p:cNvSpPr/>
          <p:nvPr/>
        </p:nvSpPr>
        <p:spPr>
          <a:xfrm>
            <a:off x="10241280" y="3685032"/>
            <a:ext cx="1005840" cy="27432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Speed Drill</a:t>
            </a:r>
            <a:endParaRPr lang="en-US" sz="950" dirty="0"/>
          </a:p>
        </p:txBody>
      </p:sp>
      <p:sp>
        <p:nvSpPr>
          <p:cNvPr id="27" name="Shape 25"/>
          <p:cNvSpPr/>
          <p:nvPr/>
        </p:nvSpPr>
        <p:spPr>
          <a:xfrm>
            <a:off x="731520" y="4297680"/>
            <a:ext cx="10698480" cy="749808"/>
          </a:xfrm>
          <a:prstGeom prst="roundRect">
            <a:avLst>
              <a:gd name="adj" fmla="val 9756"/>
            </a:avLst>
          </a:prstGeom>
          <a:solidFill>
            <a:srgbClr val="FFFFFF"/>
          </a:solidFill>
          <a:ln w="12700">
            <a:solidFill>
              <a:srgbClr val="E2E8F0"/>
            </a:solidFill>
            <a:prstDash val="solid"/>
          </a:ln>
        </p:spPr>
      </p:sp>
      <p:sp>
        <p:nvSpPr>
          <p:cNvPr id="28" name="Shape 26"/>
          <p:cNvSpPr/>
          <p:nvPr/>
        </p:nvSpPr>
        <p:spPr>
          <a:xfrm>
            <a:off x="914400" y="4443984"/>
            <a:ext cx="1005840" cy="457200"/>
          </a:xfrm>
          <a:prstGeom prst="roundRect">
            <a:avLst>
              <a:gd name="adj" fmla="val 12000"/>
            </a:avLst>
          </a:prstGeom>
          <a:solidFill>
            <a:srgbClr val="FEF3C7"/>
          </a:solidFill>
          <a:ln w="12700">
            <a:solidFill>
              <a:srgbClr val="D97706"/>
            </a:solidFill>
            <a:prstDash val="solid"/>
          </a:ln>
        </p:spPr>
      </p:sp>
      <p:sp>
        <p:nvSpPr>
          <p:cNvPr id="29" name="Text 27"/>
          <p:cNvSpPr/>
          <p:nvPr/>
        </p:nvSpPr>
        <p:spPr>
          <a:xfrm>
            <a:off x="914400" y="4498848"/>
            <a:ext cx="1005840" cy="365760"/>
          </a:xfrm>
          <a:prstGeom prst="rect">
            <a:avLst/>
          </a:prstGeom>
          <a:noFill/>
          <a:ln/>
        </p:spPr>
        <p:txBody>
          <a:bodyPr wrap="square" rtlCol="0" anchor="ctr"/>
          <a:lstStyle/>
          <a:p>
            <a:pPr algn="ctr" indent="0" marL="0">
              <a:buNone/>
            </a:pPr>
            <a:r>
              <a:rPr lang="en-US" sz="1100" b="1" dirty="0">
                <a:solidFill>
                  <a:srgbClr val="D97706"/>
                </a:solidFill>
                <a:latin typeface="Segoe UI" pitchFamily="34" charset="0"/>
                <a:ea typeface="Segoe UI" pitchFamily="34" charset="-122"/>
                <a:cs typeface="Segoe UI" pitchFamily="34" charset="-120"/>
              </a:rPr>
              <a:t>Sesi 14</a:t>
            </a:r>
            <a:endParaRPr lang="en-US" sz="1100" dirty="0"/>
          </a:p>
        </p:txBody>
      </p:sp>
      <p:sp>
        <p:nvSpPr>
          <p:cNvPr id="30" name="Text 28"/>
          <p:cNvSpPr/>
          <p:nvPr/>
        </p:nvSpPr>
        <p:spPr>
          <a:xfrm>
            <a:off x="2103120" y="4407408"/>
            <a:ext cx="4389120" cy="292608"/>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Simulasi Try Out Full &amp; Bedah Titik Lemah</a:t>
            </a:r>
            <a:endParaRPr lang="en-US" sz="1200" dirty="0"/>
          </a:p>
        </p:txBody>
      </p:sp>
      <p:sp>
        <p:nvSpPr>
          <p:cNvPr id="31" name="Text 29"/>
          <p:cNvSpPr/>
          <p:nvPr/>
        </p:nvSpPr>
        <p:spPr>
          <a:xfrm>
            <a:off x="2103120" y="4681728"/>
            <a:ext cx="8046720" cy="320040"/>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Simulasi ujian di platform Lesinaja, pemetaan ranking kelas, evaluasi butir soal jebakan, dan eliminasi kesalahan berulang.</a:t>
            </a:r>
            <a:endParaRPr lang="en-US" sz="950" dirty="0"/>
          </a:p>
        </p:txBody>
      </p:sp>
      <p:sp>
        <p:nvSpPr>
          <p:cNvPr id="32" name="Shape 30"/>
          <p:cNvSpPr/>
          <p:nvPr/>
        </p:nvSpPr>
        <p:spPr>
          <a:xfrm>
            <a:off x="10241280" y="4498848"/>
            <a:ext cx="1005840" cy="347472"/>
          </a:xfrm>
          <a:prstGeom prst="roundRect">
            <a:avLst>
              <a:gd name="adj" fmla="val 15789"/>
            </a:avLst>
          </a:prstGeom>
          <a:solidFill>
            <a:srgbClr val="F8FAFC"/>
          </a:solidFill>
          <a:ln w="12700">
            <a:solidFill>
              <a:srgbClr val="E2E8F0"/>
            </a:solidFill>
            <a:prstDash val="solid"/>
          </a:ln>
        </p:spPr>
      </p:sp>
      <p:sp>
        <p:nvSpPr>
          <p:cNvPr id="33" name="Text 31"/>
          <p:cNvSpPr/>
          <p:nvPr/>
        </p:nvSpPr>
        <p:spPr>
          <a:xfrm>
            <a:off x="10241280" y="4553712"/>
            <a:ext cx="1005840" cy="27432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Simulasi</a:t>
            </a:r>
            <a:endParaRPr lang="en-US" sz="950" dirty="0"/>
          </a:p>
        </p:txBody>
      </p:sp>
      <p:sp>
        <p:nvSpPr>
          <p:cNvPr id="34" name="Shape 32"/>
          <p:cNvSpPr/>
          <p:nvPr/>
        </p:nvSpPr>
        <p:spPr>
          <a:xfrm>
            <a:off x="731520" y="5166360"/>
            <a:ext cx="10698480" cy="749808"/>
          </a:xfrm>
          <a:prstGeom prst="roundRect">
            <a:avLst>
              <a:gd name="adj" fmla="val 9756"/>
            </a:avLst>
          </a:prstGeom>
          <a:solidFill>
            <a:srgbClr val="FFFFFF"/>
          </a:solidFill>
          <a:ln w="12700">
            <a:solidFill>
              <a:srgbClr val="E2E8F0"/>
            </a:solidFill>
            <a:prstDash val="solid"/>
          </a:ln>
        </p:spPr>
      </p:sp>
      <p:sp>
        <p:nvSpPr>
          <p:cNvPr id="35" name="Shape 33"/>
          <p:cNvSpPr/>
          <p:nvPr/>
        </p:nvSpPr>
        <p:spPr>
          <a:xfrm>
            <a:off x="914400" y="5312664"/>
            <a:ext cx="1005840" cy="457200"/>
          </a:xfrm>
          <a:prstGeom prst="roundRect">
            <a:avLst>
              <a:gd name="adj" fmla="val 12000"/>
            </a:avLst>
          </a:prstGeom>
          <a:solidFill>
            <a:srgbClr val="FEF3C7"/>
          </a:solidFill>
          <a:ln w="12700">
            <a:solidFill>
              <a:srgbClr val="D97706"/>
            </a:solidFill>
            <a:prstDash val="solid"/>
          </a:ln>
        </p:spPr>
      </p:sp>
      <p:sp>
        <p:nvSpPr>
          <p:cNvPr id="36" name="Text 34"/>
          <p:cNvSpPr/>
          <p:nvPr/>
        </p:nvSpPr>
        <p:spPr>
          <a:xfrm>
            <a:off x="914400" y="5367528"/>
            <a:ext cx="1005840" cy="365760"/>
          </a:xfrm>
          <a:prstGeom prst="rect">
            <a:avLst/>
          </a:prstGeom>
          <a:noFill/>
          <a:ln/>
        </p:spPr>
        <p:txBody>
          <a:bodyPr wrap="square" rtlCol="0" anchor="ctr"/>
          <a:lstStyle/>
          <a:p>
            <a:pPr algn="ctr" indent="0" marL="0">
              <a:buNone/>
            </a:pPr>
            <a:r>
              <a:rPr lang="en-US" sz="1100" b="1" dirty="0">
                <a:solidFill>
                  <a:srgbClr val="D97706"/>
                </a:solidFill>
                <a:latin typeface="Segoe UI" pitchFamily="34" charset="0"/>
                <a:ea typeface="Segoe UI" pitchFamily="34" charset="-122"/>
                <a:cs typeface="Segoe UI" pitchFamily="34" charset="-120"/>
              </a:rPr>
              <a:t>Sesi 15</a:t>
            </a:r>
            <a:endParaRPr lang="en-US" sz="1100" dirty="0"/>
          </a:p>
        </p:txBody>
      </p:sp>
      <p:sp>
        <p:nvSpPr>
          <p:cNvPr id="37" name="Text 35"/>
          <p:cNvSpPr/>
          <p:nvPr/>
        </p:nvSpPr>
        <p:spPr>
          <a:xfrm>
            <a:off x="2103120" y="5276088"/>
            <a:ext cx="4389120" cy="292608"/>
          </a:xfrm>
          <a:prstGeom prst="rect">
            <a:avLst/>
          </a:prstGeom>
          <a:noFill/>
          <a:ln/>
        </p:spPr>
        <p:txBody>
          <a:bodyPr wrap="square" rtlCol="0" anchor="ctr"/>
          <a:lstStyle/>
          <a:p>
            <a:pPr indent="0" marL="0">
              <a:buNone/>
            </a:pPr>
            <a:r>
              <a:rPr lang="en-US" sz="1200" b="1" dirty="0">
                <a:solidFill>
                  <a:srgbClr val="0F172A"/>
                </a:solidFill>
                <a:latin typeface="Segoe UI" pitchFamily="34" charset="0"/>
                <a:ea typeface="Segoe UI" pitchFamily="34" charset="-122"/>
                <a:cs typeface="Segoe UI" pitchFamily="34" charset="-120"/>
              </a:rPr>
              <a:t>Strategi Final, Mental Conditioning, &amp; Pelepasan</a:t>
            </a:r>
            <a:endParaRPr lang="en-US" sz="1200" dirty="0"/>
          </a:p>
        </p:txBody>
      </p:sp>
      <p:sp>
        <p:nvSpPr>
          <p:cNvPr id="38" name="Text 36"/>
          <p:cNvSpPr/>
          <p:nvPr/>
        </p:nvSpPr>
        <p:spPr>
          <a:xfrm>
            <a:off x="2103120" y="5550408"/>
            <a:ext cx="8046720" cy="320040"/>
          </a:xfrm>
          <a:prstGeom prst="rect">
            <a:avLst/>
          </a:prstGeom>
          <a:noFill/>
          <a:ln/>
        </p:spPr>
        <p:txBody>
          <a:bodyPr wrap="square" rtlCol="0" anchor="ctr"/>
          <a:lstStyle/>
          <a:p>
            <a:pPr indent="0" marL="0">
              <a:buNone/>
            </a:pPr>
            <a:r>
              <a:rPr lang="en-US" sz="950" dirty="0">
                <a:solidFill>
                  <a:srgbClr val="475569"/>
                </a:solidFill>
                <a:latin typeface="Segoe UI" pitchFamily="34" charset="0"/>
                <a:ea typeface="Segoe UI" pitchFamily="34" charset="-122"/>
                <a:cs typeface="Segoe UI" pitchFamily="34" charset="-120"/>
              </a:rPr>
              <a:t>Manajemen stres dan detak jantung saat layar CAT bermasalah, taktik memilih saat ragu-ragu, checklist H-7 ujian, dan doa bersama.</a:t>
            </a:r>
            <a:endParaRPr lang="en-US" sz="950" dirty="0"/>
          </a:p>
        </p:txBody>
      </p:sp>
      <p:sp>
        <p:nvSpPr>
          <p:cNvPr id="39" name="Shape 37"/>
          <p:cNvSpPr/>
          <p:nvPr/>
        </p:nvSpPr>
        <p:spPr>
          <a:xfrm>
            <a:off x="10241280" y="5367528"/>
            <a:ext cx="1005840" cy="347472"/>
          </a:xfrm>
          <a:prstGeom prst="roundRect">
            <a:avLst>
              <a:gd name="adj" fmla="val 15789"/>
            </a:avLst>
          </a:prstGeom>
          <a:solidFill>
            <a:srgbClr val="F8FAFC"/>
          </a:solidFill>
          <a:ln w="12700">
            <a:solidFill>
              <a:srgbClr val="E2E8F0"/>
            </a:solidFill>
            <a:prstDash val="solid"/>
          </a:ln>
        </p:spPr>
      </p:sp>
      <p:sp>
        <p:nvSpPr>
          <p:cNvPr id="40" name="Text 38"/>
          <p:cNvSpPr/>
          <p:nvPr/>
        </p:nvSpPr>
        <p:spPr>
          <a:xfrm>
            <a:off x="10241280" y="5422392"/>
            <a:ext cx="1005840" cy="274320"/>
          </a:xfrm>
          <a:prstGeom prst="rect">
            <a:avLst/>
          </a:prstGeom>
          <a:noFill/>
          <a:ln/>
        </p:spPr>
        <p:txBody>
          <a:bodyPr wrap="square" rtlCol="0" anchor="ctr"/>
          <a:lstStyle/>
          <a:p>
            <a:pPr algn="ctr" indent="0" marL="0">
              <a:buNone/>
            </a:pPr>
            <a:r>
              <a:rPr lang="en-US" sz="950" dirty="0">
                <a:solidFill>
                  <a:srgbClr val="475569"/>
                </a:solidFill>
                <a:latin typeface="Segoe UI" pitchFamily="34" charset="0"/>
                <a:ea typeface="Segoe UI" pitchFamily="34" charset="-122"/>
                <a:cs typeface="Segoe UI" pitchFamily="34" charset="-120"/>
              </a:rPr>
              <a:t>Final Kick</a:t>
            </a:r>
            <a:endParaRPr lang="en-US" sz="950" dirty="0"/>
          </a:p>
        </p:txBody>
      </p:sp>
      <p:sp>
        <p:nvSpPr>
          <p:cNvPr id="41" name="Shape 39"/>
          <p:cNvSpPr/>
          <p:nvPr/>
        </p:nvSpPr>
        <p:spPr>
          <a:xfrm>
            <a:off x="731520" y="6309360"/>
            <a:ext cx="10725912" cy="0"/>
          </a:xfrm>
          <a:prstGeom prst="line">
            <a:avLst/>
          </a:prstGeom>
          <a:noFill/>
          <a:ln w="12700">
            <a:solidFill>
              <a:srgbClr val="E2E8F0"/>
            </a:solidFill>
            <a:prstDash val="solid"/>
          </a:ln>
        </p:spPr>
      </p:sp>
      <p:sp>
        <p:nvSpPr>
          <p:cNvPr id="42" name="Text 40"/>
          <p:cNvSpPr/>
          <p:nvPr/>
        </p:nvSpPr>
        <p:spPr>
          <a:xfrm>
            <a:off x="731520" y="6355080"/>
            <a:ext cx="7315200" cy="27432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LESINAJA • Program Persiapan Intensif TIU CPNS 2027</a:t>
            </a:r>
            <a:endParaRPr lang="en-US" sz="900" dirty="0"/>
          </a:p>
        </p:txBody>
      </p:sp>
      <p:sp>
        <p:nvSpPr>
          <p:cNvPr id="43" name="Text 41"/>
          <p:cNvSpPr/>
          <p:nvPr/>
        </p:nvSpPr>
        <p:spPr>
          <a:xfrm>
            <a:off x="9601200" y="6355080"/>
            <a:ext cx="1828800" cy="274320"/>
          </a:xfrm>
          <a:prstGeom prst="rect">
            <a:avLst/>
          </a:prstGeom>
          <a:noFill/>
          <a:ln/>
        </p:spPr>
        <p:txBody>
          <a:bodyPr wrap="square" rtlCol="0" anchor="ctr"/>
          <a:lstStyle/>
          <a:p>
            <a:pPr algn="r" indent="0" marL="0">
              <a:buNone/>
            </a:pPr>
            <a:r>
              <a:rPr lang="en-US" sz="900" dirty="0">
                <a:solidFill>
                  <a:srgbClr val="475569"/>
                </a:solidFill>
                <a:latin typeface="Segoe UI" pitchFamily="34" charset="0"/>
                <a:ea typeface="Segoe UI" pitchFamily="34" charset="-122"/>
                <a:cs typeface="Segoe UI" pitchFamily="34" charset="-120"/>
              </a:rPr>
              <a:t>Slide 13 dari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731520" y="411480"/>
            <a:ext cx="2560320" cy="292608"/>
          </a:xfrm>
          <a:prstGeom prst="roundRect">
            <a:avLst>
              <a:gd name="adj" fmla="val 25000"/>
            </a:avLst>
          </a:prstGeom>
          <a:solidFill>
            <a:srgbClr val="EFF6FF"/>
          </a:solidFill>
          <a:ln w="12700">
            <a:solidFill>
              <a:srgbClr val="2563EB"/>
            </a:solidFill>
            <a:prstDash val="solid"/>
          </a:ln>
        </p:spPr>
      </p:sp>
      <p:sp>
        <p:nvSpPr>
          <p:cNvPr id="3" name="Text 1"/>
          <p:cNvSpPr/>
          <p:nvPr/>
        </p:nvSpPr>
        <p:spPr>
          <a:xfrm>
            <a:off x="731520" y="411480"/>
            <a:ext cx="2560320" cy="292608"/>
          </a:xfrm>
          <a:prstGeom prst="rect">
            <a:avLst/>
          </a:prstGeom>
          <a:noFill/>
          <a:ln/>
        </p:spPr>
        <p:txBody>
          <a:bodyPr wrap="square" rtlCol="0" anchor="ctr"/>
          <a:lstStyle/>
          <a:p>
            <a:pPr algn="ctr" indent="0" marL="0">
              <a:buNone/>
            </a:pPr>
            <a:r>
              <a:rPr lang="en-US" sz="1000" b="1" dirty="0">
                <a:solidFill>
                  <a:srgbClr val="2563EB"/>
                </a:solidFill>
                <a:latin typeface="Segoe UI" pitchFamily="34" charset="0"/>
                <a:ea typeface="Segoe UI" pitchFamily="34" charset="-122"/>
                <a:cs typeface="Segoe UI" pitchFamily="34" charset="-120"/>
              </a:rPr>
              <a:t>TUGAS HARI INI</a:t>
            </a:r>
            <a:endParaRPr lang="en-US" sz="1000" dirty="0"/>
          </a:p>
        </p:txBody>
      </p:sp>
      <p:sp>
        <p:nvSpPr>
          <p:cNvPr id="4" name="Text 2"/>
          <p:cNvSpPr/>
          <p:nvPr/>
        </p:nvSpPr>
        <p:spPr>
          <a:xfrm>
            <a:off x="731520" y="749808"/>
            <a:ext cx="10698480" cy="502920"/>
          </a:xfrm>
          <a:prstGeom prst="rect">
            <a:avLst/>
          </a:prstGeom>
          <a:noFill/>
          <a:ln/>
        </p:spPr>
        <p:txBody>
          <a:bodyPr wrap="square" rtlCol="0" anchor="t"/>
          <a:lstStyle/>
          <a:p>
            <a:pPr indent="0" marL="0">
              <a:buNone/>
            </a:pPr>
            <a:r>
              <a:rPr lang="en-US" sz="2200" b="1" dirty="0">
                <a:solidFill>
                  <a:srgbClr val="0F172A"/>
                </a:solidFill>
                <a:latin typeface="Segoe UI" pitchFamily="34" charset="0"/>
                <a:ea typeface="Segoe UI" pitchFamily="34" charset="-122"/>
                <a:cs typeface="Segoe UI" pitchFamily="34" charset="-120"/>
              </a:rPr>
              <a:t>Langkah Pertama: Diagnosis Kemampuan Awal di Lesinaja</a:t>
            </a:r>
            <a:endParaRPr lang="en-US" sz="2200" dirty="0"/>
          </a:p>
        </p:txBody>
      </p:sp>
      <p:sp>
        <p:nvSpPr>
          <p:cNvPr id="5" name="Text 3"/>
          <p:cNvSpPr/>
          <p:nvPr/>
        </p:nvSpPr>
        <p:spPr>
          <a:xfrm>
            <a:off x="731520" y="1234440"/>
            <a:ext cx="10698480" cy="320040"/>
          </a:xfrm>
          <a:prstGeom prst="rect">
            <a:avLst/>
          </a:prstGeom>
          <a:noFill/>
          <a:ln/>
        </p:spPr>
        <p:txBody>
          <a:bodyPr wrap="square" rtlCol="0" anchor="t"/>
          <a:lstStyle/>
          <a:p>
            <a:pPr indent="0" marL="0">
              <a:buNone/>
            </a:pPr>
            <a:r>
              <a:rPr lang="en-US" sz="1200" dirty="0">
                <a:solidFill>
                  <a:srgbClr val="475569"/>
                </a:solidFill>
                <a:latin typeface="Segoe UI" pitchFamily="34" charset="0"/>
                <a:ea typeface="Segoe UI" pitchFamily="34" charset="-122"/>
                <a:cs typeface="Segoe UI" pitchFamily="34" charset="-120"/>
              </a:rPr>
              <a:t>Kenali posisi awal dan titik lemah kognitif Anda sebelum pertemuan ke-2 dimulai</a:t>
            </a:r>
            <a:endParaRPr lang="en-US" sz="1200" dirty="0"/>
          </a:p>
        </p:txBody>
      </p:sp>
      <p:sp>
        <p:nvSpPr>
          <p:cNvPr id="6" name="Shape 4"/>
          <p:cNvSpPr/>
          <p:nvPr/>
        </p:nvSpPr>
        <p:spPr>
          <a:xfrm>
            <a:off x="731520" y="1691640"/>
            <a:ext cx="5669280" cy="4389120"/>
          </a:xfrm>
          <a:prstGeom prst="roundRect">
            <a:avLst>
              <a:gd name="adj" fmla="val 2500"/>
            </a:avLst>
          </a:prstGeom>
          <a:solidFill>
            <a:srgbClr val="FFFFFF"/>
          </a:solidFill>
          <a:ln w="25400">
            <a:solidFill>
              <a:srgbClr val="2563EB"/>
            </a:solidFill>
            <a:prstDash val="solid"/>
          </a:ln>
        </p:spPr>
      </p:sp>
      <p:sp>
        <p:nvSpPr>
          <p:cNvPr id="7" name="Text 5"/>
          <p:cNvSpPr/>
          <p:nvPr/>
        </p:nvSpPr>
        <p:spPr>
          <a:xfrm>
            <a:off x="1005840" y="1920240"/>
            <a:ext cx="5120640" cy="320040"/>
          </a:xfrm>
          <a:prstGeom prst="rect">
            <a:avLst/>
          </a:prstGeom>
          <a:noFill/>
          <a:ln/>
        </p:spPr>
        <p:txBody>
          <a:bodyPr wrap="square" rtlCol="0" anchor="ctr"/>
          <a:lstStyle/>
          <a:p>
            <a:pPr indent="0" marL="0">
              <a:buNone/>
            </a:pPr>
            <a:r>
              <a:rPr lang="en-US" sz="1300" b="1" dirty="0">
                <a:solidFill>
                  <a:srgbClr val="2563EB"/>
                </a:solidFill>
                <a:latin typeface="Segoe UI" pitchFamily="34" charset="0"/>
                <a:ea typeface="Segoe UI" pitchFamily="34" charset="-122"/>
                <a:cs typeface="Segoe UI" pitchFamily="34" charset="-120"/>
              </a:rPr>
              <a:t>PANDUAN AKSES DIAGNOSIS MANDIRI</a:t>
            </a:r>
            <a:endParaRPr lang="en-US" sz="1300" dirty="0"/>
          </a:p>
        </p:txBody>
      </p:sp>
      <p:sp>
        <p:nvSpPr>
          <p:cNvPr id="8" name="Text 6"/>
          <p:cNvSpPr/>
          <p:nvPr/>
        </p:nvSpPr>
        <p:spPr>
          <a:xfrm>
            <a:off x="1005840" y="2423160"/>
            <a:ext cx="5120640" cy="41148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1. Kunjungi platform web Lesinaja di browser Anda.</a:t>
            </a:r>
            <a:endParaRPr lang="en-US" sz="1100" dirty="0"/>
          </a:p>
        </p:txBody>
      </p:sp>
      <p:sp>
        <p:nvSpPr>
          <p:cNvPr id="9" name="Text 7"/>
          <p:cNvSpPr/>
          <p:nvPr/>
        </p:nvSpPr>
        <p:spPr>
          <a:xfrm>
            <a:off x="1005840" y="2926080"/>
            <a:ext cx="5120640" cy="41148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2. Masuk ke menu 'Try Out' pada bilah navigasi atas.</a:t>
            </a:r>
            <a:endParaRPr lang="en-US" sz="1100" dirty="0"/>
          </a:p>
        </p:txBody>
      </p:sp>
      <p:sp>
        <p:nvSpPr>
          <p:cNvPr id="10" name="Text 8"/>
          <p:cNvSpPr/>
          <p:nvPr/>
        </p:nvSpPr>
        <p:spPr>
          <a:xfrm>
            <a:off x="1005840" y="3429000"/>
            <a:ext cx="5120640" cy="41148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3. Pilih paket ujian: 'Mini TIU New CASN' (35 Butir Soal).</a:t>
            </a:r>
            <a:endParaRPr lang="en-US" sz="1100" dirty="0"/>
          </a:p>
        </p:txBody>
      </p:sp>
      <p:sp>
        <p:nvSpPr>
          <p:cNvPr id="11" name="Text 9"/>
          <p:cNvSpPr/>
          <p:nvPr/>
        </p:nvSpPr>
        <p:spPr>
          <a:xfrm>
            <a:off x="1005840" y="3931920"/>
            <a:ext cx="5120640" cy="41148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4. Masukkan Kode Akses Khusus Kelas: MTTIUNIPSQUAD</a:t>
            </a:r>
            <a:endParaRPr lang="en-US" sz="1100" dirty="0"/>
          </a:p>
        </p:txBody>
      </p:sp>
      <p:sp>
        <p:nvSpPr>
          <p:cNvPr id="12" name="Text 10"/>
          <p:cNvSpPr/>
          <p:nvPr/>
        </p:nvSpPr>
        <p:spPr>
          <a:xfrm>
            <a:off x="1005840" y="4434840"/>
            <a:ext cx="5120640" cy="411480"/>
          </a:xfrm>
          <a:prstGeom prst="rect">
            <a:avLst/>
          </a:prstGeom>
          <a:noFill/>
          <a:ln/>
        </p:spPr>
        <p:txBody>
          <a:bodyPr wrap="square" rtlCol="0" anchor="ctr"/>
          <a:lstStyle/>
          <a:p>
            <a:pPr indent="0" marL="0">
              <a:buNone/>
            </a:pPr>
            <a:r>
              <a:rPr lang="en-US" sz="1100" dirty="0">
                <a:solidFill>
                  <a:srgbClr val="0F172A"/>
                </a:solidFill>
                <a:latin typeface="Segoe UI" pitchFamily="34" charset="0"/>
                <a:ea typeface="Segoe UI" pitchFamily="34" charset="-122"/>
                <a:cs typeface="Segoe UI" pitchFamily="34" charset="-120"/>
              </a:rPr>
              <a:t>5. Kerjakan secara mandiri dalam waktu maksimal 30 menit tanpa catatan atau kalkulator.</a:t>
            </a:r>
            <a:endParaRPr lang="en-US" sz="1100" dirty="0"/>
          </a:p>
        </p:txBody>
      </p:sp>
      <p:sp>
        <p:nvSpPr>
          <p:cNvPr id="13" name="Shape 11"/>
          <p:cNvSpPr/>
          <p:nvPr/>
        </p:nvSpPr>
        <p:spPr>
          <a:xfrm>
            <a:off x="1005840" y="4937760"/>
            <a:ext cx="5120640" cy="868680"/>
          </a:xfrm>
          <a:prstGeom prst="roundRect">
            <a:avLst>
              <a:gd name="adj" fmla="val 8421"/>
            </a:avLst>
          </a:prstGeom>
          <a:solidFill>
            <a:srgbClr val="EFF6FF"/>
          </a:solidFill>
          <a:ln w="19050">
            <a:solidFill>
              <a:srgbClr val="2563EB"/>
            </a:solidFill>
            <a:prstDash val="solid"/>
          </a:ln>
        </p:spPr>
      </p:sp>
      <p:sp>
        <p:nvSpPr>
          <p:cNvPr id="14" name="Text 12"/>
          <p:cNvSpPr/>
          <p:nvPr/>
        </p:nvSpPr>
        <p:spPr>
          <a:xfrm>
            <a:off x="1188720" y="5010912"/>
            <a:ext cx="4754880" cy="228600"/>
          </a:xfrm>
          <a:prstGeom prst="rect">
            <a:avLst/>
          </a:prstGeom>
          <a:noFill/>
          <a:ln/>
        </p:spPr>
        <p:txBody>
          <a:bodyPr wrap="square" rtlCol="0" anchor="ctr"/>
          <a:lstStyle/>
          <a:p>
            <a:pPr algn="ctr" indent="0" marL="0">
              <a:buNone/>
            </a:pPr>
            <a:r>
              <a:rPr lang="en-US" sz="950" b="1" dirty="0">
                <a:solidFill>
                  <a:srgbClr val="2563EB"/>
                </a:solidFill>
                <a:latin typeface="Segoe UI" pitchFamily="34" charset="0"/>
                <a:ea typeface="Segoe UI" pitchFamily="34" charset="-122"/>
                <a:cs typeface="Segoe UI" pitchFamily="34" charset="-120"/>
              </a:rPr>
              <a:t>KODE AKSES KHUSUS PESERTA:</a:t>
            </a:r>
            <a:endParaRPr lang="en-US" sz="950" dirty="0"/>
          </a:p>
        </p:txBody>
      </p:sp>
      <p:sp>
        <p:nvSpPr>
          <p:cNvPr id="15" name="Text 13"/>
          <p:cNvSpPr/>
          <p:nvPr/>
        </p:nvSpPr>
        <p:spPr>
          <a:xfrm>
            <a:off x="1188720" y="5257800"/>
            <a:ext cx="4754880" cy="411480"/>
          </a:xfrm>
          <a:prstGeom prst="rect">
            <a:avLst/>
          </a:prstGeom>
          <a:noFill/>
          <a:ln/>
        </p:spPr>
        <p:txBody>
          <a:bodyPr wrap="square" rtlCol="0" anchor="ctr"/>
          <a:lstStyle/>
          <a:p>
            <a:pPr algn="ctr" indent="0" marL="0">
              <a:buNone/>
            </a:pPr>
            <a:r>
              <a:rPr lang="en-US" sz="2000" b="1" dirty="0">
                <a:solidFill>
                  <a:srgbClr val="1D4ED8"/>
                </a:solidFill>
                <a:latin typeface="Segoe UI" pitchFamily="34" charset="0"/>
                <a:ea typeface="Segoe UI" pitchFamily="34" charset="-122"/>
                <a:cs typeface="Segoe UI" pitchFamily="34" charset="-120"/>
              </a:rPr>
              <a:t>MTTIUNIPSQUAD</a:t>
            </a:r>
            <a:endParaRPr lang="en-US" sz="2000" dirty="0"/>
          </a:p>
        </p:txBody>
      </p:sp>
      <p:sp>
        <p:nvSpPr>
          <p:cNvPr id="16" name="Shape 14"/>
          <p:cNvSpPr/>
          <p:nvPr/>
        </p:nvSpPr>
        <p:spPr>
          <a:xfrm>
            <a:off x="6675120" y="1691640"/>
            <a:ext cx="4754880" cy="4389120"/>
          </a:xfrm>
          <a:prstGeom prst="roundRect">
            <a:avLst>
              <a:gd name="adj" fmla="val 2500"/>
            </a:avLst>
          </a:prstGeom>
          <a:solidFill>
            <a:srgbClr val="FFFFFF"/>
          </a:solidFill>
          <a:ln w="19050">
            <a:solidFill>
              <a:srgbClr val="E2E8F0"/>
            </a:solidFill>
            <a:prstDash val="solid"/>
          </a:ln>
        </p:spPr>
      </p:sp>
      <p:sp>
        <p:nvSpPr>
          <p:cNvPr id="17" name="Text 15"/>
          <p:cNvSpPr/>
          <p:nvPr/>
        </p:nvSpPr>
        <p:spPr>
          <a:xfrm>
            <a:off x="6949440" y="1920240"/>
            <a:ext cx="4206240" cy="320040"/>
          </a:xfrm>
          <a:prstGeom prst="rect">
            <a:avLst/>
          </a:prstGeom>
          <a:noFill/>
          <a:ln/>
        </p:spPr>
        <p:txBody>
          <a:bodyPr wrap="square" rtlCol="0" anchor="ctr"/>
          <a:lstStyle/>
          <a:p>
            <a:pPr indent="0" marL="0">
              <a:buNone/>
            </a:pPr>
            <a:r>
              <a:rPr lang="en-US" sz="1300" b="1" dirty="0">
                <a:solidFill>
                  <a:srgbClr val="059669"/>
                </a:solidFill>
                <a:latin typeface="Segoe UI" pitchFamily="34" charset="0"/>
                <a:ea typeface="Segoe UI" pitchFamily="34" charset="-122"/>
                <a:cs typeface="Segoe UI" pitchFamily="34" charset="-120"/>
              </a:rPr>
              <a:t>APA YANG AKAN ANDA DAPATKAN?</a:t>
            </a:r>
            <a:endParaRPr lang="en-US" sz="1300" dirty="0"/>
          </a:p>
        </p:txBody>
      </p:sp>
      <p:sp>
        <p:nvSpPr>
          <p:cNvPr id="18" name="Text 16"/>
          <p:cNvSpPr/>
          <p:nvPr/>
        </p:nvSpPr>
        <p:spPr>
          <a:xfrm>
            <a:off x="6949440" y="2423160"/>
            <a:ext cx="4206240" cy="3383280"/>
          </a:xfrm>
          <a:prstGeom prst="rect">
            <a:avLst/>
          </a:prstGeom>
          <a:noFill/>
          <a:ln/>
        </p:spPr>
        <p:txBody>
          <a:bodyPr wrap="square" rtlCol="0" anchor="ctr"/>
          <a:lstStyle/>
          <a:p>
            <a:pPr indent="0" marL="0">
              <a:buNone/>
            </a:pPr>
            <a:r>
              <a:rPr lang="en-US" sz="1100" dirty="0">
                <a:solidFill>
                  <a:srgbClr val="475569"/>
                </a:solidFill>
                <a:latin typeface="Segoe UI" pitchFamily="34" charset="0"/>
                <a:ea typeface="Segoe UI" pitchFamily="34" charset="-122"/>
                <a:cs typeface="Segoe UI" pitchFamily="34" charset="-120"/>
              </a:rPr>
              <a:t>• Peta Kekuatan Individual:</a:t>
            </a: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Mengetahui secara persis apakah titik lemah Anda ada di Verbal Analogi, Hitungan Aljabar, atau Matriks Spasial.</a:t>
            </a:r>
            <a:endParaRPr lang="en-US" sz="1100" dirty="0"/>
          </a:p>
          <a:p>
            <a:pPr indent="0" marL="0">
              <a:buNone/>
            </a:pP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Rekomendasi Latihan Khusus:</a:t>
            </a: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Mentor akan menggunakan data hasil diagnosis ini untuk memberikan penekanan materi yang tepat di sesi 2 sampai 15.</a:t>
            </a:r>
            <a:endParaRPr lang="en-US" sz="1100" dirty="0"/>
          </a:p>
          <a:p>
            <a:pPr indent="0" marL="0">
              <a:buNone/>
            </a:pP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Benchmark Nilai Awal:</a:t>
            </a:r>
            <a:endParaRPr lang="en-US" sz="1100" dirty="0"/>
          </a:p>
          <a:p>
            <a:pPr indent="0" marL="0">
              <a:buNone/>
            </a:pPr>
            <a:r>
              <a:rPr lang="en-US" sz="1100" dirty="0">
                <a:solidFill>
                  <a:srgbClr val="475569"/>
                </a:solidFill>
                <a:latin typeface="Segoe UI" pitchFamily="34" charset="0"/>
                <a:ea typeface="Segoe UI" pitchFamily="34" charset="-122"/>
                <a:cs typeface="Segoe UI" pitchFamily="34" charset="-120"/>
              </a:rPr>
              <a:t>  Menjadi titik tolak (baseline) untuk melihat lonjakan skor Anda setelah menyelesaikan 15 pertemuan.</a:t>
            </a:r>
            <a:endParaRPr lang="en-US" sz="1100" dirty="0"/>
          </a:p>
        </p:txBody>
      </p:sp>
      <p:sp>
        <p:nvSpPr>
          <p:cNvPr id="19" name="Shape 17"/>
          <p:cNvSpPr/>
          <p:nvPr/>
        </p:nvSpPr>
        <p:spPr>
          <a:xfrm>
            <a:off x="731520" y="6309360"/>
            <a:ext cx="10725912" cy="0"/>
          </a:xfrm>
          <a:prstGeom prst="line">
            <a:avLst/>
          </a:prstGeom>
          <a:noFill/>
          <a:ln w="12700">
            <a:solidFill>
              <a:srgbClr val="E2E8F0"/>
            </a:solidFill>
            <a:prstDash val="solid"/>
          </a:ln>
        </p:spPr>
      </p:sp>
      <p:sp>
        <p:nvSpPr>
          <p:cNvPr id="20" name="Text 18"/>
          <p:cNvSpPr/>
          <p:nvPr/>
        </p:nvSpPr>
        <p:spPr>
          <a:xfrm>
            <a:off x="731520" y="6355080"/>
            <a:ext cx="7315200" cy="27432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LESINAJA • Program Persiapan Intensif TIU CPNS 2027</a:t>
            </a:r>
            <a:endParaRPr lang="en-US" sz="900" dirty="0"/>
          </a:p>
        </p:txBody>
      </p:sp>
      <p:sp>
        <p:nvSpPr>
          <p:cNvPr id="21" name="Text 19"/>
          <p:cNvSpPr/>
          <p:nvPr/>
        </p:nvSpPr>
        <p:spPr>
          <a:xfrm>
            <a:off x="9601200" y="6355080"/>
            <a:ext cx="1828800" cy="274320"/>
          </a:xfrm>
          <a:prstGeom prst="rect">
            <a:avLst/>
          </a:prstGeom>
          <a:noFill/>
          <a:ln/>
        </p:spPr>
        <p:txBody>
          <a:bodyPr wrap="square" rtlCol="0" anchor="ctr"/>
          <a:lstStyle/>
          <a:p>
            <a:pPr algn="r" indent="0" marL="0">
              <a:buNone/>
            </a:pPr>
            <a:r>
              <a:rPr lang="en-US" sz="900" dirty="0">
                <a:solidFill>
                  <a:srgbClr val="475569"/>
                </a:solidFill>
                <a:latin typeface="Segoe UI" pitchFamily="34" charset="0"/>
                <a:ea typeface="Segoe UI" pitchFamily="34" charset="-122"/>
                <a:cs typeface="Segoe UI" pitchFamily="34" charset="-120"/>
              </a:rPr>
              <a:t>Slide 14 dari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59669"/>
          </a:solidFill>
          <a:ln/>
        </p:spPr>
      </p:sp>
      <p:sp>
        <p:nvSpPr>
          <p:cNvPr id="3" name="Shape 1"/>
          <p:cNvSpPr/>
          <p:nvPr/>
        </p:nvSpPr>
        <p:spPr>
          <a:xfrm>
            <a:off x="1097280" y="914400"/>
            <a:ext cx="2926080" cy="347472"/>
          </a:xfrm>
          <a:prstGeom prst="roundRect">
            <a:avLst>
              <a:gd name="adj" fmla="val 21053"/>
            </a:avLst>
          </a:prstGeom>
          <a:solidFill>
            <a:srgbClr val="064E3B"/>
          </a:solidFill>
          <a:ln w="12700">
            <a:solidFill>
              <a:srgbClr val="34D399"/>
            </a:solidFill>
            <a:prstDash val="solid"/>
          </a:ln>
        </p:spPr>
      </p:sp>
      <p:sp>
        <p:nvSpPr>
          <p:cNvPr id="4" name="Text 2"/>
          <p:cNvSpPr/>
          <p:nvPr/>
        </p:nvSpPr>
        <p:spPr>
          <a:xfrm>
            <a:off x="1097280" y="914400"/>
            <a:ext cx="2926080" cy="347472"/>
          </a:xfrm>
          <a:prstGeom prst="rect">
            <a:avLst/>
          </a:prstGeom>
          <a:noFill/>
          <a:ln/>
        </p:spPr>
        <p:txBody>
          <a:bodyPr wrap="square" rtlCol="0" anchor="ctr"/>
          <a:lstStyle/>
          <a:p>
            <a:pPr algn="ctr" indent="0" marL="0">
              <a:buNone/>
            </a:pPr>
            <a:r>
              <a:rPr lang="en-US" sz="1050" b="1" dirty="0">
                <a:solidFill>
                  <a:srgbClr val="6EE7B7"/>
                </a:solidFill>
                <a:latin typeface="Segoe UI" pitchFamily="34" charset="0"/>
                <a:ea typeface="Segoe UI" pitchFamily="34" charset="-122"/>
                <a:cs typeface="Segoe UI" pitchFamily="34" charset="-120"/>
              </a:rPr>
              <a:t>PRINSIP KELULUSAN CASN</a:t>
            </a:r>
            <a:endParaRPr lang="en-US" sz="1050" dirty="0"/>
          </a:p>
        </p:txBody>
      </p:sp>
      <p:sp>
        <p:nvSpPr>
          <p:cNvPr id="5" name="Text 3"/>
          <p:cNvSpPr/>
          <p:nvPr/>
        </p:nvSpPr>
        <p:spPr>
          <a:xfrm>
            <a:off x="1097280" y="1417320"/>
            <a:ext cx="10058400" cy="1280160"/>
          </a:xfrm>
          <a:prstGeom prst="rect">
            <a:avLst/>
          </a:prstGeom>
          <a:noFill/>
          <a:ln/>
        </p:spPr>
        <p:txBody>
          <a:bodyPr wrap="square" rtlCol="0" anchor="ctr"/>
          <a:lstStyle/>
          <a:p>
            <a:pPr indent="0" marL="0">
              <a:buNone/>
            </a:pPr>
            <a:r>
              <a:rPr lang="en-US" sz="3600" b="1" dirty="0">
                <a:solidFill>
                  <a:srgbClr val="FFFFFF"/>
                </a:solidFill>
                <a:latin typeface="Segoe UI" pitchFamily="34" charset="0"/>
                <a:ea typeface="Segoe UI" pitchFamily="34" charset="-122"/>
                <a:cs typeface="Segoe UI" pitchFamily="34" charset="-120"/>
              </a:rPr>
              <a:t>Persiapan yang Paling Tepat?</a:t>
            </a:r>
            <a:endParaRPr lang="en-US" sz="3600" dirty="0"/>
          </a:p>
          <a:p>
            <a:pPr indent="0" marL="0">
              <a:buNone/>
            </a:pPr>
            <a:r>
              <a:rPr lang="en-US" sz="3600" b="1" dirty="0">
                <a:solidFill>
                  <a:srgbClr val="FFFFFF"/>
                </a:solidFill>
                <a:latin typeface="Segoe UI" pitchFamily="34" charset="0"/>
                <a:ea typeface="Segoe UI" pitchFamily="34" charset="-122"/>
                <a:cs typeface="Segoe UI" pitchFamily="34" charset="-120"/>
              </a:rPr>
              <a:t>Adalah SIAP SEGALANYA!</a:t>
            </a:r>
            <a:endParaRPr lang="en-US" sz="3600" dirty="0"/>
          </a:p>
        </p:txBody>
      </p:sp>
      <p:sp>
        <p:nvSpPr>
          <p:cNvPr id="6" name="Shape 4"/>
          <p:cNvSpPr/>
          <p:nvPr/>
        </p:nvSpPr>
        <p:spPr>
          <a:xfrm>
            <a:off x="1097280" y="2834640"/>
            <a:ext cx="4754880" cy="1920240"/>
          </a:xfrm>
          <a:prstGeom prst="roundRect">
            <a:avLst>
              <a:gd name="adj" fmla="val 4762"/>
            </a:avLst>
          </a:prstGeom>
          <a:solidFill>
            <a:srgbClr val="1E293B"/>
          </a:solidFill>
          <a:ln w="12700">
            <a:solidFill>
              <a:srgbClr val="334155"/>
            </a:solidFill>
            <a:prstDash val="solid"/>
          </a:ln>
        </p:spPr>
      </p:sp>
      <p:sp>
        <p:nvSpPr>
          <p:cNvPr id="7" name="Text 5"/>
          <p:cNvSpPr/>
          <p:nvPr/>
        </p:nvSpPr>
        <p:spPr>
          <a:xfrm>
            <a:off x="1371600" y="3017520"/>
            <a:ext cx="4206240" cy="320040"/>
          </a:xfrm>
          <a:prstGeom prst="rect">
            <a:avLst/>
          </a:prstGeom>
          <a:noFill/>
          <a:ln/>
        </p:spPr>
        <p:txBody>
          <a:bodyPr wrap="square" rtlCol="0" anchor="ctr"/>
          <a:lstStyle/>
          <a:p>
            <a:pPr indent="0" marL="0">
              <a:buNone/>
            </a:pPr>
            <a:r>
              <a:rPr lang="en-US" sz="1200" b="1" dirty="0">
                <a:solidFill>
                  <a:srgbClr val="93C5FD"/>
                </a:solidFill>
                <a:latin typeface="Segoe UI" pitchFamily="34" charset="0"/>
                <a:ea typeface="Segoe UI" pitchFamily="34" charset="-122"/>
                <a:cs typeface="Segoe UI" pitchFamily="34" charset="-120"/>
              </a:rPr>
              <a:t>MODEL SOAL KLASIK</a:t>
            </a:r>
            <a:endParaRPr lang="en-US" sz="1200" dirty="0"/>
          </a:p>
        </p:txBody>
      </p:sp>
      <p:sp>
        <p:nvSpPr>
          <p:cNvPr id="8" name="Text 6"/>
          <p:cNvSpPr/>
          <p:nvPr/>
        </p:nvSpPr>
        <p:spPr>
          <a:xfrm>
            <a:off x="1371600" y="3429000"/>
            <a:ext cx="4206240" cy="1097280"/>
          </a:xfrm>
          <a:prstGeom prst="rect">
            <a:avLst/>
          </a:prstGeom>
          <a:noFill/>
          <a:ln/>
        </p:spPr>
        <p:txBody>
          <a:bodyPr wrap="square" rtlCol="0" anchor="ctr"/>
          <a:lstStyle/>
          <a:p>
            <a:pPr indent="0" marL="0">
              <a:buNone/>
            </a:pPr>
            <a:r>
              <a:rPr lang="en-US" sz="1300" i="1" dirty="0">
                <a:solidFill>
                  <a:srgbClr val="E2E8F0"/>
                </a:solidFill>
                <a:latin typeface="Segoe UI" pitchFamily="34" charset="0"/>
                <a:ea typeface="Segoe UI" pitchFamily="34" charset="-122"/>
                <a:cs typeface="Segoe UI" pitchFamily="34" charset="-120"/>
              </a:rPr>
              <a:t>"Kita selesaikan dengan mata terpejam dalam 10 hingga 15 detik menggunakan pemahaman konsep yang kokoh."</a:t>
            </a:r>
            <a:endParaRPr lang="en-US" sz="1300" dirty="0"/>
          </a:p>
        </p:txBody>
      </p:sp>
      <p:sp>
        <p:nvSpPr>
          <p:cNvPr id="9" name="Shape 7"/>
          <p:cNvSpPr/>
          <p:nvPr/>
        </p:nvSpPr>
        <p:spPr>
          <a:xfrm>
            <a:off x="6217920" y="2834640"/>
            <a:ext cx="4754880" cy="1920240"/>
          </a:xfrm>
          <a:prstGeom prst="roundRect">
            <a:avLst>
              <a:gd name="adj" fmla="val 4762"/>
            </a:avLst>
          </a:prstGeom>
          <a:solidFill>
            <a:srgbClr val="1E293B"/>
          </a:solidFill>
          <a:ln w="12700">
            <a:solidFill>
              <a:srgbClr val="334155"/>
            </a:solidFill>
            <a:prstDash val="solid"/>
          </a:ln>
        </p:spPr>
      </p:sp>
      <p:sp>
        <p:nvSpPr>
          <p:cNvPr id="10" name="Text 8"/>
          <p:cNvSpPr/>
          <p:nvPr/>
        </p:nvSpPr>
        <p:spPr>
          <a:xfrm>
            <a:off x="6492240" y="3017520"/>
            <a:ext cx="4206240" cy="320040"/>
          </a:xfrm>
          <a:prstGeom prst="rect">
            <a:avLst/>
          </a:prstGeom>
          <a:noFill/>
          <a:ln/>
        </p:spPr>
        <p:txBody>
          <a:bodyPr wrap="square" rtlCol="0" anchor="ctr"/>
          <a:lstStyle/>
          <a:p>
            <a:pPr indent="0" marL="0">
              <a:buNone/>
            </a:pPr>
            <a:r>
              <a:rPr lang="en-US" sz="1200" b="1" dirty="0">
                <a:solidFill>
                  <a:srgbClr val="6EE7B7"/>
                </a:solidFill>
                <a:latin typeface="Segoe UI" pitchFamily="34" charset="0"/>
                <a:ea typeface="Segoe UI" pitchFamily="34" charset="-122"/>
                <a:cs typeface="Segoe UI" pitchFamily="34" charset="-120"/>
              </a:rPr>
              <a:t>MODEL SOAL MODERN HOTS</a:t>
            </a:r>
            <a:endParaRPr lang="en-US" sz="1200" dirty="0"/>
          </a:p>
        </p:txBody>
      </p:sp>
      <p:sp>
        <p:nvSpPr>
          <p:cNvPr id="11" name="Text 9"/>
          <p:cNvSpPr/>
          <p:nvPr/>
        </p:nvSpPr>
        <p:spPr>
          <a:xfrm>
            <a:off x="6492240" y="3429000"/>
            <a:ext cx="4206240" cy="1097280"/>
          </a:xfrm>
          <a:prstGeom prst="rect">
            <a:avLst/>
          </a:prstGeom>
          <a:noFill/>
          <a:ln/>
        </p:spPr>
        <p:txBody>
          <a:bodyPr wrap="square" rtlCol="0" anchor="ctr"/>
          <a:lstStyle/>
          <a:p>
            <a:pPr indent="0" marL="0">
              <a:buNone/>
            </a:pPr>
            <a:r>
              <a:rPr lang="en-US" sz="1300" i="1" dirty="0">
                <a:solidFill>
                  <a:srgbClr val="E2E8F0"/>
                </a:solidFill>
                <a:latin typeface="Segoe UI" pitchFamily="34" charset="0"/>
                <a:ea typeface="Segoe UI" pitchFamily="34" charset="-122"/>
                <a:cs typeface="Segoe UI" pitchFamily="34" charset="-120"/>
              </a:rPr>
              <a:t>"Kita taklukkan dengan ketajaman nalar, kepekaan pola, dan ketahanan mental tanpa rasa panik."</a:t>
            </a:r>
            <a:endParaRPr lang="en-US" sz="1300" dirty="0"/>
          </a:p>
        </p:txBody>
      </p:sp>
      <p:sp>
        <p:nvSpPr>
          <p:cNvPr id="12" name="Text 10"/>
          <p:cNvSpPr/>
          <p:nvPr/>
        </p:nvSpPr>
        <p:spPr>
          <a:xfrm>
            <a:off x="1097280" y="5029200"/>
            <a:ext cx="9875520" cy="548640"/>
          </a:xfrm>
          <a:prstGeom prst="rect">
            <a:avLst/>
          </a:prstGeom>
          <a:noFill/>
          <a:ln/>
        </p:spPr>
        <p:txBody>
          <a:bodyPr wrap="square" rtlCol="0" anchor="ctr"/>
          <a:lstStyle/>
          <a:p>
            <a:pPr algn="ctr" indent="0" marL="0">
              <a:buNone/>
            </a:pPr>
            <a:r>
              <a:rPr lang="en-US" sz="1300" b="1" dirty="0">
                <a:solidFill>
                  <a:srgbClr val="FCD34D"/>
                </a:solidFill>
                <a:latin typeface="Segoe UI" pitchFamily="34" charset="0"/>
                <a:ea typeface="Segoe UI" pitchFamily="34" charset="-122"/>
                <a:cs typeface="Segoe UI" pitchFamily="34" charset="-120"/>
              </a:rPr>
              <a:t>Komitmen Kita: Hadir di 15 sesi, selesaikan setiap drill latihan, dan pantang menyerah sebelum NIP berada di tangan Anda!</a:t>
            </a:r>
            <a:endParaRPr lang="en-US" sz="1300" dirty="0"/>
          </a:p>
        </p:txBody>
      </p:sp>
      <p:sp>
        <p:nvSpPr>
          <p:cNvPr id="13" name="Text 11"/>
          <p:cNvSpPr/>
          <p:nvPr/>
        </p:nvSpPr>
        <p:spPr>
          <a:xfrm>
            <a:off x="1097280" y="5760720"/>
            <a:ext cx="9875520" cy="365760"/>
          </a:xfrm>
          <a:prstGeom prst="rect">
            <a:avLst/>
          </a:prstGeom>
          <a:noFill/>
          <a:ln/>
        </p:spPr>
        <p:txBody>
          <a:bodyPr wrap="square" rtlCol="0" anchor="ctr"/>
          <a:lstStyle/>
          <a:p>
            <a:pPr algn="ctr" indent="0" marL="0">
              <a:buNone/>
            </a:pPr>
            <a:r>
              <a:rPr lang="en-US" sz="1100" dirty="0">
                <a:solidFill>
                  <a:srgbClr val="64748B"/>
                </a:solidFill>
                <a:latin typeface="Segoe UI" pitchFamily="34" charset="0"/>
                <a:ea typeface="Segoe UI" pitchFamily="34" charset="-122"/>
                <a:cs typeface="Segoe UI" pitchFamily="34" charset="-120"/>
              </a:rPr>
              <a:t>SAMPAI JUMPA DI PERTEMUAN 2 • LESINAJA ACADEMY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Dekode TIU CPNS 2027 - Pertemuan 1</dc:title>
  <dc:subject>Bimbingan Belajar TIU Berbasis FR Kedinasan 2026 &amp; Standar BKN</dc:subject>
  <dc:creator>Lesinaja</dc:creator>
  <cp:lastModifiedBy>Lesinaja</cp:lastModifiedBy>
  <cp:revision>1</cp:revision>
  <dcterms:created xsi:type="dcterms:W3CDTF">2026-10-05T05:05:45Z</dcterms:created>
  <dcterms:modified xsi:type="dcterms:W3CDTF">2026-10-05T05:05:45Z</dcterms:modified>
</cp:coreProperties>
</file>